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e4c00f9f4240f3" /><Relationship Type="http://schemas.openxmlformats.org/officeDocument/2006/relationships/extended-properties" Target="/docProps/app.xml" Id="Re43af46f90e641df" /><Relationship Type="http://schemas.openxmlformats.org/officeDocument/2006/relationships/officeDocument" Target="/ppt/presentation.xml" Id="Rdea2126e47964f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65a8376622466d"/>
  </p:sldMasterIdLst>
  <p:notesMasterIdLst>
    <p:notesMasterId xmlns:r="http://schemas.openxmlformats.org/officeDocument/2006/relationships" r:id="R296f359176ac40c7"/>
  </p:notesMasterIdLst>
  <p:sldIdLst>
    <p:sldId xmlns:r="http://schemas.openxmlformats.org/officeDocument/2006/relationships" id="256" r:id="Rd4aa80cd46574212"/>
    <p:sldId xmlns:r="http://schemas.openxmlformats.org/officeDocument/2006/relationships" id="257" r:id="R5f88a6c28c8a4a2c"/>
    <p:sldId xmlns:r="http://schemas.openxmlformats.org/officeDocument/2006/relationships" id="258" r:id="R128cdba9d82847a0"/>
    <p:sldId xmlns:r="http://schemas.openxmlformats.org/officeDocument/2006/relationships" id="259" r:id="R57e474a49b444f48"/>
    <p:sldId xmlns:r="http://schemas.openxmlformats.org/officeDocument/2006/relationships" id="260" r:id="Ra52ba924caad4e8d"/>
    <p:sldId xmlns:r="http://schemas.openxmlformats.org/officeDocument/2006/relationships" id="261" r:id="Rb2d6386104e04fb4"/>
    <p:sldId xmlns:r="http://schemas.openxmlformats.org/officeDocument/2006/relationships" id="262" r:id="Rf243cacda9fa4665"/>
    <p:sldId xmlns:r="http://schemas.openxmlformats.org/officeDocument/2006/relationships" id="263" r:id="R3d50f24b814c4076"/>
    <p:sldId xmlns:r="http://schemas.openxmlformats.org/officeDocument/2006/relationships" id="264" r:id="Rf21a22abafc240d2"/>
    <p:sldId xmlns:r="http://schemas.openxmlformats.org/officeDocument/2006/relationships" id="265" r:id="R8a471c9fd89f4b16"/>
    <p:sldId xmlns:r="http://schemas.openxmlformats.org/officeDocument/2006/relationships" id="266" r:id="R2a66d8f596c643a0"/>
    <p:sldId xmlns:r="http://schemas.openxmlformats.org/officeDocument/2006/relationships" id="267" r:id="Re2353b214dd648c2"/>
    <p:sldId xmlns:r="http://schemas.openxmlformats.org/officeDocument/2006/relationships" id="268" r:id="R28f12aa93ceb4633"/>
    <p:sldId xmlns:r="http://schemas.openxmlformats.org/officeDocument/2006/relationships" id="269" r:id="R496cd254990e46ab"/>
    <p:sldId xmlns:r="http://schemas.openxmlformats.org/officeDocument/2006/relationships" id="270" r:id="R643fb8efee1040d7"/>
    <p:sldId xmlns:r="http://schemas.openxmlformats.org/officeDocument/2006/relationships" id="271" r:id="R783738c15ded488a"/>
    <p:sldId xmlns:r="http://schemas.openxmlformats.org/officeDocument/2006/relationships" id="272" r:id="Rc146268fcb8b4375"/>
    <p:sldId xmlns:r="http://schemas.openxmlformats.org/officeDocument/2006/relationships" id="273" r:id="Re9a6402541274df3"/>
    <p:sldId xmlns:r="http://schemas.openxmlformats.org/officeDocument/2006/relationships" id="274" r:id="R6f23c2ada02943fd"/>
    <p:sldId xmlns:r="http://schemas.openxmlformats.org/officeDocument/2006/relationships" id="275" r:id="R4dea9ea2ffec43b1"/>
    <p:sldId xmlns:r="http://schemas.openxmlformats.org/officeDocument/2006/relationships" id="276" r:id="Rb8fde04b14174f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8c0d2657c74189" /><Relationship Type="http://schemas.openxmlformats.org/officeDocument/2006/relationships/slideMaster" Target="/ppt/slideMasters/slideMaster1.xml" Id="R7765a8376622466d" /><Relationship Type="http://schemas.openxmlformats.org/officeDocument/2006/relationships/notesMaster" Target="/ppt/notesMasters/notesMaster1.xml" Id="R296f359176ac40c7" /><Relationship Type="http://schemas.openxmlformats.org/officeDocument/2006/relationships/presProps" Target="/ppt/presProps.xml" Id="R92e5b189a2ce4e86" /><Relationship Type="http://schemas.openxmlformats.org/officeDocument/2006/relationships/tableStyles" Target="/ppt/tableStyles.xml" Id="R78be5395defa4b5b" /><Relationship Type="http://schemas.openxmlformats.org/officeDocument/2006/relationships/slide" Target="/ppt/slides/slide1.xml" Id="Rd4aa80cd46574212" /><Relationship Type="http://schemas.openxmlformats.org/officeDocument/2006/relationships/slide" Target="/ppt/slides/slide2.xml" Id="R5f88a6c28c8a4a2c" /><Relationship Type="http://schemas.openxmlformats.org/officeDocument/2006/relationships/slide" Target="/ppt/slides/slide3.xml" Id="R128cdba9d82847a0" /><Relationship Type="http://schemas.openxmlformats.org/officeDocument/2006/relationships/slide" Target="/ppt/slides/slide4.xml" Id="R57e474a49b444f48" /><Relationship Type="http://schemas.openxmlformats.org/officeDocument/2006/relationships/slide" Target="/ppt/slides/slide5.xml" Id="Ra52ba924caad4e8d" /><Relationship Type="http://schemas.openxmlformats.org/officeDocument/2006/relationships/slide" Target="/ppt/slides/slide6.xml" Id="Rb2d6386104e04fb4" /><Relationship Type="http://schemas.openxmlformats.org/officeDocument/2006/relationships/slide" Target="/ppt/slides/slide7.xml" Id="Rf243cacda9fa4665" /><Relationship Type="http://schemas.openxmlformats.org/officeDocument/2006/relationships/slide" Target="/ppt/slides/slide8.xml" Id="R3d50f24b814c4076" /><Relationship Type="http://schemas.openxmlformats.org/officeDocument/2006/relationships/slide" Target="/ppt/slides/slide9.xml" Id="Rf21a22abafc240d2" /><Relationship Type="http://schemas.openxmlformats.org/officeDocument/2006/relationships/slide" Target="/ppt/slides/slide10.xml" Id="R8a471c9fd89f4b16" /><Relationship Type="http://schemas.openxmlformats.org/officeDocument/2006/relationships/slide" Target="/ppt/slides/slide11.xml" Id="R2a66d8f596c643a0" /><Relationship Type="http://schemas.openxmlformats.org/officeDocument/2006/relationships/slide" Target="/ppt/slides/slide12.xml" Id="Re2353b214dd648c2" /><Relationship Type="http://schemas.openxmlformats.org/officeDocument/2006/relationships/slide" Target="/ppt/slides/slide13.xml" Id="R28f12aa93ceb4633" /><Relationship Type="http://schemas.openxmlformats.org/officeDocument/2006/relationships/slide" Target="/ppt/slides/slide14.xml" Id="R496cd254990e46ab" /><Relationship Type="http://schemas.openxmlformats.org/officeDocument/2006/relationships/slide" Target="/ppt/slides/slide15.xml" Id="R643fb8efee1040d7" /><Relationship Type="http://schemas.openxmlformats.org/officeDocument/2006/relationships/slide" Target="/ppt/slides/slide16.xml" Id="R783738c15ded488a" /><Relationship Type="http://schemas.openxmlformats.org/officeDocument/2006/relationships/slide" Target="/ppt/slides/slide17.xml" Id="Rc146268fcb8b4375" /><Relationship Type="http://schemas.openxmlformats.org/officeDocument/2006/relationships/slide" Target="/ppt/slides/slide18.xml" Id="Re9a6402541274df3" /><Relationship Type="http://schemas.openxmlformats.org/officeDocument/2006/relationships/slide" Target="/ppt/slides/slide19.xml" Id="R6f23c2ada02943fd" /><Relationship Type="http://schemas.openxmlformats.org/officeDocument/2006/relationships/slide" Target="/ppt/slides/slide20.xml" Id="R4dea9ea2ffec43b1" /><Relationship Type="http://schemas.openxmlformats.org/officeDocument/2006/relationships/slide" Target="/ppt/slides/slide21.xml" Id="Rb8fde04b14174f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4b750a9c9840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5e79ca54f94a90" /><Relationship Type="http://schemas.openxmlformats.org/officeDocument/2006/relationships/notesMaster" Target="/ppt/notesMasters/notesMaster1.xml" Id="Rd24757f5d30f42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503fcc243e42f0" /><Relationship Type="http://schemas.openxmlformats.org/officeDocument/2006/relationships/notesMaster" Target="/ppt/notesMasters/notesMaster1.xml" Id="R4cdc4eadcd7148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973e149a004db7" /><Relationship Type="http://schemas.openxmlformats.org/officeDocument/2006/relationships/notesMaster" Target="/ppt/notesMasters/notesMaster1.xml" Id="R610051d4e3a347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62f3b568b747f6" /><Relationship Type="http://schemas.openxmlformats.org/officeDocument/2006/relationships/notesMaster" Target="/ppt/notesMasters/notesMaster1.xml" Id="R238cdd92a87c4b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9a7a6c8d654332" /><Relationship Type="http://schemas.openxmlformats.org/officeDocument/2006/relationships/notesMaster" Target="/ppt/notesMasters/notesMaster1.xml" Id="R7ca6fe5d8eca4f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70a148f1164625" /><Relationship Type="http://schemas.openxmlformats.org/officeDocument/2006/relationships/notesMaster" Target="/ppt/notesMasters/notesMaster1.xml" Id="Re203e6fd418446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2134e520204a74" /><Relationship Type="http://schemas.openxmlformats.org/officeDocument/2006/relationships/notesMaster" Target="/ppt/notesMasters/notesMaster1.xml" Id="Rc104f0dfd5fc47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f15266fe594e19" /><Relationship Type="http://schemas.openxmlformats.org/officeDocument/2006/relationships/notesMaster" Target="/ppt/notesMasters/notesMaster1.xml" Id="R804f8e8a2bcf45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a218e47f8d41d0" /><Relationship Type="http://schemas.openxmlformats.org/officeDocument/2006/relationships/notesMaster" Target="/ppt/notesMasters/notesMaster1.xml" Id="R34cfd7b1599d4e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3a1112d78947c9" /><Relationship Type="http://schemas.openxmlformats.org/officeDocument/2006/relationships/notesMaster" Target="/ppt/notesMasters/notesMaster1.xml" Id="R4e014d08101c4c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0bbf7575d64e6d" /><Relationship Type="http://schemas.openxmlformats.org/officeDocument/2006/relationships/notesMaster" Target="/ppt/notesMasters/notesMaster1.xml" Id="R27457afab2de4e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47503dd5f3455d" /><Relationship Type="http://schemas.openxmlformats.org/officeDocument/2006/relationships/notesMaster" Target="/ppt/notesMasters/notesMaster1.xml" Id="R067020b8c77846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79e20a7cbe4bad" /><Relationship Type="http://schemas.openxmlformats.org/officeDocument/2006/relationships/notesMaster" Target="/ppt/notesMasters/notesMaster1.xml" Id="R3803dfe1db3a45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0f18c8a8304288" /><Relationship Type="http://schemas.openxmlformats.org/officeDocument/2006/relationships/notesMaster" Target="/ppt/notesMasters/notesMaster1.xml" Id="R3c623bf9cd034a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691247f7524b43" /><Relationship Type="http://schemas.openxmlformats.org/officeDocument/2006/relationships/notesMaster" Target="/ppt/notesMasters/notesMaster1.xml" Id="R9995c7968a8b47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5adacd5f7e4dad" /><Relationship Type="http://schemas.openxmlformats.org/officeDocument/2006/relationships/notesMaster" Target="/ppt/notesMasters/notesMaster1.xml" Id="Re967299ba4634b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3549fcb421644dd" /><Relationship Type="http://schemas.openxmlformats.org/officeDocument/2006/relationships/notesMaster" Target="/ppt/notesMasters/notesMaster1.xml" Id="R43244909fb0446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7f1832166a4e1c" /><Relationship Type="http://schemas.openxmlformats.org/officeDocument/2006/relationships/notesMaster" Target="/ppt/notesMasters/notesMaster1.xml" Id="R60898d89d8144c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9369e96dda40ef" /><Relationship Type="http://schemas.openxmlformats.org/officeDocument/2006/relationships/notesMaster" Target="/ppt/notesMasters/notesMaster1.xml" Id="R6094a7efad944f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143b72a5d1429e" /><Relationship Type="http://schemas.openxmlformats.org/officeDocument/2006/relationships/notesMaster" Target="/ppt/notesMasters/notesMaster1.xml" Id="Raa7e244e488b462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c1ce6865ed407d" /><Relationship Type="http://schemas.openxmlformats.org/officeDocument/2006/relationships/notesMaster" Target="/ppt/notesMasters/notesMaster1.xml" Id="Rad0c8c6135cc45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各位老师、同学好，我是 shaw chenyu。本次汇报围绕两篇感知质量评价综述，重点讲我对 IQA 的理解，再结合 AIGC 与 UGC 混合的 VR 图片数据库和算法，说明目前形成的研究问题与下一步计划。现在还处于入门阅读阶段，没有正式数据库或算法实验结果。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Min, X.; Duan, H.; Sun, W.; Zhu, Y.; Zhai, G. Perceptual video quality assessment: a survey. Science China Information Sciences, 2024, 67:211301. https://doi.org/10.1007/s11432-024-4133-3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配图：shaw 的手记入门百科中已有的自制教学示例。public/images/encyclopedia/figure-manifest.json 记录生成参数。图片不代表真实数据库、生成器输出或实验结果。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两篇综述的侧重点不同。IQA 综述帮助我建立数据库、主观评价、客观方法与模型评测之间的联系。VQA 综述补充时间因素、显示条件和 VR 观看行为。我目前以全景静态图片为研究对象，因此只迁移相关的评测思想，不把视频方法直接作为图片算法。导师教程进一步强调可复现的实验习惯。我的收获是先明确评价目标和标签，再选择方法和比较协议，而不是只记算法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重点：§2、§3、§4.11、§5。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Min, X.; Duan, H.; Sun, W.; Zhu, Y.; Zhai, G. Perceptual video quality assessment: a survey. Science China Information Sciences, 2024, 67:211301. https://doi.org/10.1007/s11432-024-4133-3</a:t>
            </a:r>
          </a:p>
          <a:p xmlns:a="http://schemas.openxmlformats.org/drawingml/2006/main">
            <a:r>
              <a:t>重点：§2.1、§4.4、§5。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我的理解是，感知质量评价希望预测人在规定条件下对图像的质量判断。图像像素是输入，评分问题、观察者和展示条件决定标签含义。比如同一张全景图，桌面展开图、可交互视口与头显浏览会有不同的可见细节和观看体验。因此建库时必须写清楚怎样看、评什么。整体视觉质量、美感、内容是否符合提示词、眩晕等体验指标可能相关，但各有定义，不能把它们混成一个没有解释的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§1–2，主观评价与人类视觉系统。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Min, X.; Duan, H.; Sun, W.; Zhu, Y.; Zhai, G. Perceptual video quality assessment: a survey. Science China Information Sciences, 2024, 67:211301. https://doi.org/10.1007/s11432-024-4133-3</a:t>
            </a:r>
          </a:p>
          <a:p xmlns:a="http://schemas.openxmlformats.org/drawingml/2006/main">
            <a:r>
              <a:t>§2.1，主观测试方法与条件。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这三个类别区分推理时参考信息的可用程度。FR 可以获得完整高质量参考，例如原始全景与其压缩版本。RR 使用有限参考特征。NR 只依靠待评价内容，是我当前拟采用的起点。无参考不等于无监督，NR 模型训练时常需要 MOS 标签。提示词是生成条件，不是可以直接计算逐像素误差的高质量参考图。同一场景下的不同生成图若未建立可信对应关系，也不能自动拿来作为 FR 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§3，PDF p.9–22。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我首先需要学会观察失真。模糊通常削弱边缘和高频细节，噪声是叠加的随机波动，它可能让图像看起来更有高频变化，但这不意味着质量更好。这里两组分别使用相同输入，对比未添加失真的示意图和高斯变化。它们只解释现象，不代表真实数据，也没有 MOS 标签。实际拍摄与压缩可能同时引入多种失真，不能简单依赖一个锐度值给整体质量打分。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§2 数据库失真类型，§3.3.1 失真专用 NR 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配图：shaw 的手记入门百科中已有的自制教学示例。public/images/encyclopedia/figure-manifest.json 记录生成参数。图片不代表真实数据库、生成器输出或实验结果。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高斯模糊 σ=1.5 px，高斯噪声 σ=20（8 bit），自制示意场景；不是主观实验。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伪影是采集、编码、重建或处理带来的额外结构，常见表现包括压缩块、振铃、色带和锯齿。这里 JPEG 图使用实际低质量编码再解码，振铃图则只是边缘波纹的解析示意。我的课题需要同时记录产生这些现象的处理链，例如全景拼接、投影重采样和平台压缩。ERP 的极区拉伸是投影几何特征，不能直接当作质量缺陷。接缝断裂或重采样造成的额外失真才需要按具体观看条件评价。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§2 失真类型，§3.1 与 §3.3。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配图：shaw 的手记入门百科中已有的自制教学示例。public/images/encyclopedia/figure-manifest.json 记录生成参数。图片不代表真实数据库、生成器输出或实验结果。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JPEG quality=5；振铃为解析示意，色带以 32 级步长量化；这些示例没有质量标签。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综述使我意识到，方法选择需要看它依赖什么假设。PSNR 衡量相对参考的像素误差，SSIM 使用局部亮度、对比度和结构相似性，都需要合适参考。NSS 方法利用自然场景统计规律，BRISQUE 与 NIQE 的训练方式并不相同。学习方法从局部或整体特征中预测质量，效果依赖数据、标签和预训练。在生成内容和 ERP 图片中，自然图像统计先验是否仍适用需要验证。方法名称多不等于理解充分，我要能解释输入、监督与汇聚方式。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§3.1.1，PDF p.9–11；§3.3.2，PDF p.17–22。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MOS 是多位观察者评分的平均值。平均分相同，可以对应一致意见，也可以对应明显分歧。图中四位观察者的评分完全是教学构造，不是确定实验人数的建议。我认为数据库应保存逐人评分、有效观察者处理和分歧信息，并用合适方法报告不确定性。正式实验前还要固定评分维度、设备、观看时长、起始朝向和随机化方式。若使用头显，必须同时考虑休息、舒适度和实验流程，具体方案应与导师及适用规范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§2 主观数据库。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Min, X.; Duan, H.; Sun, W.; Zhu, Y.; Zhai, G. Perceptual video quality assessment: a survey. Science China Information Sciences, 2024, 67:211301. https://doi.org/10.1007/s11432-024-4133-3</a:t>
            </a:r>
          </a:p>
          <a:p xmlns:a="http://schemas.openxmlformats.org/drawingml/2006/main">
            <a:r>
              <a:t>§2.1，PDF p.4–6。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配图：shaw 的手记入门百科中已有的自制教学示例。public/images/encyclopedia/figure-manifest.json 记录生成参数。图片不代表真实数据库、生成器输出或实验结果。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教学分数 A=[3,3,3,3]，B=[1,1,5,5]，两组均值为 3；不是真实评分。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视频评价需要考虑帧内质量、帧间运动、闪烁、帧率与时间汇聚，简单平均每一帧 IQA 并不足以覆盖所有视频现象。对我当前的静态全景课题，最有用的启发是评分依赖展示条件和观看过程。用户转头产生不同视口，是同一静态图片的浏览行为，并不等于原始内容变成视频。QoE 还涉及交互和不适等体验，因此本阶段要先定义图片质量标签，避免评价目标扩得太大。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Min, X.; Duan, H.; Sun, W.; Zhu, Y.; Zhai, G. Perceptual video quality assessment: a survey. Science China Information Sciences, 2024, 67:211301. https://doi.org/10.1007/s11432-024-4133-3</a:t>
            </a:r>
          </a:p>
          <a:p xmlns:a="http://schemas.openxmlformats.org/drawingml/2006/main">
            <a:r>
              <a:t>§2.1、§3、§4.4，PDF p.4–6、15–26、32–35。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导师给出的方向是 AIGC 与 UGC 混合的 VR 图片数据库和算法。我暂把混合理解为数据库同时包含两类来源，并不自动等于一张图内的像素融合。UGC 描述用户创作或上传，上传内容也可能包含 AI；因此建库要给出可执行的来源规则。采集内容记录拍摄与拼接链，生成内容记录生成器、条件和种子，AI 编辑内容额外记录母图与修改区域。来源是元数据，质量必须由统一评价协议产生，不能提前认定哪类更好。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配图：shaw 的手记入门百科中已有的自制教学示例。public/images/encyclopedia/figure-manifest.json 记录生成参数。图片不代表真实数据库、生成器输出或实验结果。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课题对象与来源分类是我的操作化草案，AI 编辑是否纳入需与导师确认。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生成图片可以边缘清楚，却存在连接关系、文字可读性或场景几何错误。这里椅腿图是人为绘制的现象示意，不能当作生成器输出或出现频率证据。我希望研究这些错误是否影响整体质量判断，但需要区分质量、结构合理性、提示词一致性与美感。风格化或超现实画面也不能默认低质。若标签把这些因素混在一起而没有说明，模型学习的目标会变得不清楚。是否采集辅助维度，要通过小规模预实验和导师讨论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§4 特定应用中的质量定义。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配图：shaw 的手记入门百科中已有的自制教学示例。public/images/encyclopedia/figure-manifest.json 记录生成参数。图片不代表真实数据库、生成器输出或实验结果。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结构图为人为绘制的教学示意；关于生成内容的评价维度是研究设想。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ERP 将球面展开为矩形，极区的像素密度较高。余弦纬度权重可以补偿球面面积，但并不表示人实际观看这些区域的概率。透视视口通过球面方向与相机投影获得，不能用 ERP 矩形裁剪直接替代。我需要检查偏航、俯仰、FOV、采样分辨率、插值与左右接缝环绕。图中视口来自方向场的实际投影，仅用于几何演示。当前可以先用固定视口保证可复现，之后再验证观看行为是否值得引入。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§4.11，PDF p.33–34。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Min, X.; Duan, H.; Sun, W.; Zhu, Y.; Zhai, G. Perceptual video quality assessment: a survey. Science China Information Sciences, 2024, 67:211301. https://doi.org/10.1007/s11432-024-4133-3</a:t>
            </a:r>
          </a:p>
          <a:p xmlns:a="http://schemas.openxmlformats.org/drawingml/2006/main">
            <a:r>
              <a:t>§4.4.1，PDF p.32–33。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配图：shaw 的手记入门百科中已有的自制教学示例。public/images/encyclopedia/figure-manifest.json 记录生成参数。图片不代表真实数据库、生成器输出或实验结果。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方向场教学图，视口 330×174、水平 FOV 90°，采用双线性插值；不是真实场景数据。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我认为先把数据库做得可解释，才有条件讨论模型改进。需要覆盖场景、来源、失真与质量范围，不能让 AIGC 与 UGC 同时对应两类完全不同场景或评分范围。元数据要保存文件哈希、内容家族、来源处理链、投影分辨率与显示条件。主观标签需要先做小规模预实验，看看评分问题是否明确、观察者是否能稳定作答。现在不设未经验证的数据库规模和实验人数，正式数量与协议由预实验、资源条件和导师意见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§2 与 §4.11。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Min, X.; Duan, H.; Sun, W.; Zhu, Y.; Zhai, G. Perceptual video quality assessment: a survey. Science China Information Sciences, 2024, 67:211301. https://doi.org/10.1007/s11432-024-4133-3</a:t>
            </a:r>
          </a:p>
          <a:p xmlns:a="http://schemas.openxmlformats.org/drawingml/2006/main">
            <a:r>
              <a:t>§2.1。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以下为拟建设方案，数据库尚未正式采集。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这页对应导师教程第 5.5 节的第一条：避免相同 content 同时出现在训练和测试。全景图产生的不同方向视口不是独立内容，如果先提取视口再随机划分，就可能在训练中见到测试图的关联内容。我会先按内容家族划分，再在各集合内生成视口、失真版本和增强。内容家族还要检查同场景、母图、条件图以及近重复。生成随机种子和相似提示词是线索，不能单凭提示词相同就机械地认定是同一家族，仍需检查实际内容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配图：shaw 的手记入门百科中已有的自制教学示例。public/images/encyclopedia/figure-manifest.json 记录生成参数。图片不代表真实数据库、生成器输出或实验结果。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图片为划分原则示意，不表示实际数据集划分结果。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我准备先完成可复现的小基线：固定视口采样，冻结现有图像编码器，汇聚视口特征，再训练轻量质量回归器。冻结编码器能够降低早期实验开销，但具体预训练模型与输入预处理还需核查。训练标签仍是全景的 MOS，不能把全局 MOS 当作每个局部视口都独立正确的标签。若一张图只有一个 MOS，我优先在汇聚之后监督全局预测。固定采样与均值汇聚只是可解释起点，不能提前断言已经适应全景与生成异常。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§3.3.2 与 §4.11。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仅为拟实现的基线，尚未训练或报告性能。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IQA 模型不能只报告一个总体相关系数。SRCC 衡量排序关系，PLCC 衡量线性相关，RMSE 衡量分数误差，三者关注不同方面。标准基准有时进行非线性分数映射，需要说明映射在哪里拟合以及报告的是原始还是映射结果。测试集不能承担模型选型和调参。我会同时报告混合总体、来源内部和跨来源结果，保存散点图及失败样本。跨来源实验还要控制训练数量、场景与质量覆盖，否则下降未必由来源本身造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§5.1，PDF p.35–36。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目前我有两个可以检验的想法。第一，同样数量的固定视口和针对缺陷区域的采样，是否会改变模型对局部异常的敏感性。第二，在相同图像特征上，增加能够反映结构异常的辅助信息，能否改善 AIGC 内部排序。两者都需要统一其他条件，并统计分来源失败案例。我还需要用来源元数据或简单来源预测作为诊断，检查模型是否主要利用来源平均分差。这里没有任何提升结论，只有研究问题，最终方案要由数据与预实验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§4.11，视口方法提供相关思路。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以下均为待验证假设，未取得实验结果或证明新颖性。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这次阅读后，我最重要的收获是把质量目标、标签条件、方法假设和实验协议联系起来。下一步先明确混合来源与评价维度，再建立一小批可追溯样本和主观预实验，之后完成固定视口的 NR 基线，最后分析分来源结果与失败案例。想请老师帮助确认三点：是否纳入 AI 编辑图片，主标签只评价整体画质还是还要采集结构等维度，以及头显和现有数据资源能支持什么实验方案。这样的顺序能避免先设计复杂模型，再发现标签与任务定义不一致。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当前是入门阶段计划，正式采集、模型训练与研究结论尚未完成。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以三个构造样本说明指标差异：主观分数为 1、2、3，预测分数为 10、20、30。排序完全一致，且具有完全正线性关系，因此原始 SRCC 和 PLCC 都是 1，但原始 RMSE 为根号下 378，约 19.44。PLCC 高不表示分数落在相同量纲或数值准确。若采用映射后分数，必须把映射与评测协议说清楚。真实报告应同时提供原始或规定校准后的指标、散点图，并遵守固定评测划分。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>§5.1，PDF p.35–36。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【说明】</a:t>
            </a:r>
          </a:p>
          <a:p xmlns:a="http://schemas.openxmlformats.org/drawingml/2006/main">
            <a:r>
              <a:t>所有分数为构造教学数值，非模型实验结果。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这份核对清单对应导师教程第 5.5 节，也结合了当前全景课题的细节。开始训练前，保存数据划分文件、随机种子、训练配置、预处理和预训练来源。正式比较中，保持同一测试集和评价协议，尽量与已有工作统一划分，重复关键实验。完成后保存每张图的预测、MOS 散点图、分来源指标和失败样本，并在条件允许时做跨数据集评价。对全景模型还需保存视口参数。预训练数据是否与测试集有内容重叠也应检查，不只是自己划分的训练集。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【讲稿】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Min, X.; Duan, H.; Sun, W.; Zhu, Y.; Zhai, G. Perceptual video quality assessment: a survey. Science China Information Sciences, 2024, 67:211301. https://doi.org/10.1007/s11432-024-4133-3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【出处】</a:t>
            </a:r>
          </a:p>
          <a:p xmlns:a="http://schemas.openxmlformats.org/drawingml/2006/main">
            <a:r>
              <a:t>Zhai, G.; Min, X. Perceptual image quality assessment: a survey. Science China Information Sciences, 2020, 63:211301. https://doi.org/10.1007/s11432-019-2757-1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Min, X.; Duan, H.; Sun, W.; Zhu, Y.; Zhai, G. Perceptual video quality assessment: a survey. Science China Information Sciences, 2024, 67:211301. https://doi.org/10.1007/s11432-024-4133-3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于翔旭老师新生进组学习计划，导师提供 PDF，26 页。§5.4–5.5，PDF 第 9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f5fc71bb141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045ffddcc40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36e3f852e43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72b9ac0b84a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078801b4304c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2752ee64f4d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E760F5-5EDD-47EA-9E3C-C70585EB45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054CCE-237A-4C93-9125-85EAA99791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5E32E4-D388-49C9-8B5E-CADDA71BF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9FC80C-2661-486F-8A04-BD592C4B85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E7F6AB-AD37-41F9-886E-B157BE9759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EE0A2B-2391-4D24-A087-868992B954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1F0FBD-94FD-4CCF-A2B1-B5A5F98C4B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93E0F3-005F-4C83-823A-3FBA27043C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01D985-B634-4D38-83B8-30EC3B515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B4D072-CE73-4130-960A-FBCD22619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48180542764741" /><Relationship Type="http://schemas.openxmlformats.org/officeDocument/2006/relationships/slideLayout" Target="/ppt/slideLayouts/slideLayout1.xml" Id="R59a2a30207ca4edf" /><Relationship Type="http://schemas.openxmlformats.org/officeDocument/2006/relationships/slideLayout" Target="/ppt/slideLayouts/slideLayout2.xml" Id="R9fe1b1160e0d4f89" /><Relationship Type="http://schemas.openxmlformats.org/officeDocument/2006/relationships/slideLayout" Target="/ppt/slideLayouts/slideLayout3.xml" Id="R535a450338b9493b" /><Relationship Type="http://schemas.openxmlformats.org/officeDocument/2006/relationships/slideLayout" Target="/ppt/slideLayouts/slideLayout4.xml" Id="Rcf6d817fdf9c43b6" /><Relationship Type="http://schemas.openxmlformats.org/officeDocument/2006/relationships/slideLayout" Target="/ppt/slideLayouts/slideLayout5.xml" Id="R0f59a3f48c5f4af1" /><Relationship Type="http://schemas.openxmlformats.org/officeDocument/2006/relationships/slideLayout" Target="/ppt/slideLayouts/slideLayout6.xml" Id="R41e5f1e838654e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2a30207ca4edf"/>
    <p:sldLayoutId xmlns:r="http://schemas.openxmlformats.org/officeDocument/2006/relationships" id="2147483650" r:id="R9fe1b1160e0d4f89"/>
    <p:sldLayoutId xmlns:r="http://schemas.openxmlformats.org/officeDocument/2006/relationships" id="2147483651" r:id="R535a450338b9493b"/>
    <p:sldLayoutId xmlns:r="http://schemas.openxmlformats.org/officeDocument/2006/relationships" id="2147483652" r:id="Rcf6d817fdf9c43b6"/>
    <p:sldLayoutId xmlns:r="http://schemas.openxmlformats.org/officeDocument/2006/relationships" id="2147483653" r:id="R0f59a3f48c5f4af1"/>
    <p:sldLayoutId xmlns:r="http://schemas.openxmlformats.org/officeDocument/2006/relationships" id="2147483654" r:id="R41e5f1e838654e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4bbd414a945ba" /><Relationship Type="http://schemas.openxmlformats.org/officeDocument/2006/relationships/image" Target="/ppt/media/image.png" Id="R210aa2fffa6d45c1" /><Relationship Type="http://schemas.openxmlformats.org/officeDocument/2006/relationships/notesSlide" Target="/ppt/notesSlides/notesSlide1.xml" Id="R7e59e691fc9e4d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5de93ff954957" /><Relationship Type="http://schemas.openxmlformats.org/officeDocument/2006/relationships/notesSlide" Target="/ppt/notesSlides/notesSlide2.xml" Id="R2e4d92aa04b944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1bbcf92114851" /><Relationship Type="http://schemas.openxmlformats.org/officeDocument/2006/relationships/notesSlide" Target="/ppt/notesSlides/notesSlide3.xml" Id="Rb636c153708d4d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47ef275014b1f" /><Relationship Type="http://schemas.openxmlformats.org/officeDocument/2006/relationships/notesSlide" Target="/ppt/notesSlides/notesSlide4.xml" Id="R4e53953a8aee49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4e923de874ee1" /><Relationship Type="http://schemas.openxmlformats.org/officeDocument/2006/relationships/image" Target="/ppt/media/image2.png" Id="R76a776c64e4e4072" /><Relationship Type="http://schemas.openxmlformats.org/officeDocument/2006/relationships/image" Target="/ppt/media/image3.png" Id="R2fdfdeb1d082431f" /><Relationship Type="http://schemas.openxmlformats.org/officeDocument/2006/relationships/notesSlide" Target="/ppt/notesSlides/notesSlide5.xml" Id="R270f928eaa844f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969e1de934b4e" /><Relationship Type="http://schemas.openxmlformats.org/officeDocument/2006/relationships/image" Target="/ppt/media/image4.png" Id="Rf95783d616d840b9" /><Relationship Type="http://schemas.openxmlformats.org/officeDocument/2006/relationships/notesSlide" Target="/ppt/notesSlides/notesSlide6.xml" Id="R5db090d1f43d40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bb55a865141fa" /><Relationship Type="http://schemas.openxmlformats.org/officeDocument/2006/relationships/notesSlide" Target="/ppt/notesSlides/notesSlide7.xml" Id="Rf9848f5a0e1449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5a54cd45a4c67" /><Relationship Type="http://schemas.openxmlformats.org/officeDocument/2006/relationships/image" Target="/ppt/media/image5.png" Id="R1dd5d611dc6a41ea" /><Relationship Type="http://schemas.openxmlformats.org/officeDocument/2006/relationships/notesSlide" Target="/ppt/notesSlides/notesSlide8.xml" Id="Racd309f9472140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10c107eb241e3" /><Relationship Type="http://schemas.openxmlformats.org/officeDocument/2006/relationships/notesSlide" Target="/ppt/notesSlides/notesSlide9.xml" Id="Raf0ca429bf2f45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ea76b02aa461b" /><Relationship Type="http://schemas.openxmlformats.org/officeDocument/2006/relationships/image" Target="/ppt/media/image6.png" Id="R7b61b80321d74705" /><Relationship Type="http://schemas.openxmlformats.org/officeDocument/2006/relationships/notesSlide" Target="/ppt/notesSlides/notesSlide10.xml" Id="R70fe414f30344b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6d6dc0a3e458d" /><Relationship Type="http://schemas.openxmlformats.org/officeDocument/2006/relationships/image" Target="/ppt/media/image7.png" Id="Ra5af7e45111c4287" /><Relationship Type="http://schemas.openxmlformats.org/officeDocument/2006/relationships/notesSlide" Target="/ppt/notesSlides/notesSlide11.xml" Id="R14d16e844aac4c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c6fc2b0364bf3" /><Relationship Type="http://schemas.openxmlformats.org/officeDocument/2006/relationships/image" Target="/ppt/media/image8.png" Id="R6bb33ee123f44187" /><Relationship Type="http://schemas.openxmlformats.org/officeDocument/2006/relationships/notesSlide" Target="/ppt/notesSlides/notesSlide12.xml" Id="R505f4aac4f8a44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56b2b463f429d" /><Relationship Type="http://schemas.openxmlformats.org/officeDocument/2006/relationships/notesSlide" Target="/ppt/notesSlides/notesSlide13.xml" Id="R52b4d33efce145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380df89b14700" /><Relationship Type="http://schemas.openxmlformats.org/officeDocument/2006/relationships/image" Target="/ppt/media/image9.png" Id="R1c76b7a9749f4996" /><Relationship Type="http://schemas.openxmlformats.org/officeDocument/2006/relationships/notesSlide" Target="/ppt/notesSlides/notesSlide14.xml" Id="Rd1ddbae092e343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e4a24cd9e34afe" /><Relationship Type="http://schemas.openxmlformats.org/officeDocument/2006/relationships/notesSlide" Target="/ppt/notesSlides/notesSlide15.xml" Id="R7b185462700845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c7c76de1541ea" /><Relationship Type="http://schemas.openxmlformats.org/officeDocument/2006/relationships/notesSlide" Target="/ppt/notesSlides/notesSlide16.xml" Id="R3972e376405048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657bcbc194439" /><Relationship Type="http://schemas.openxmlformats.org/officeDocument/2006/relationships/notesSlide" Target="/ppt/notesSlides/notesSlide17.xml" Id="Ref352dbe25fd4e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ee70d60e044be" /><Relationship Type="http://schemas.openxmlformats.org/officeDocument/2006/relationships/notesSlide" Target="/ppt/notesSlides/notesSlide18.xml" Id="R7829d1881f9842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ff6fd1ac7a43de" /><Relationship Type="http://schemas.openxmlformats.org/officeDocument/2006/relationships/notesSlide" Target="/ppt/notesSlides/notesSlide19.xml" Id="Rac8c277102f946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5a55e89fc4139" /><Relationship Type="http://schemas.openxmlformats.org/officeDocument/2006/relationships/notesSlide" Target="/ppt/notesSlides/notesSlide20.xml" Id="Rb553f52858414c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0ee56fb284350" /><Relationship Type="http://schemas.openxmlformats.org/officeDocument/2006/relationships/notesSlide" Target="/ppt/notesSlides/notesSlide21.xml" Id="Rc025c8ba830d4f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综述阅读与课题思考">
            <a:extLst xmlns:a="http://schemas.openxmlformats.org/drawingml/2006/main">
              <a:ext uri="{FF2B5EF4-FFF2-40B4-BE49-F238E27FC236}">
                <a16:creationId xmlns:a16="http://schemas.microsoft.com/office/drawing/2014/main" id="{6B8D4720-0AE9-4436-BF83-64590362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综述阅读与课题思考</a:t>
            </a:r>
          </a:p>
        </p:txBody>
      </p:sp>
      <p:sp>
        <p:nvSpPr>
          <p:cNvPr id="2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0479904C-2535-44A5-92EC-1521E6B2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C5314C8F-969D-48E8-8EBC-DE488B7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图像质量评价&#10;我的理解与课题思考">
            <a:extLst xmlns:a="http://schemas.openxmlformats.org/drawingml/2006/main">
              <a:ext uri="{FF2B5EF4-FFF2-40B4-BE49-F238E27FC236}">
                <a16:creationId xmlns:a16="http://schemas.microsoft.com/office/drawing/2014/main" id="{EFAE6862-F5E3-4850-9D0F-0B0C6724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239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8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图像质量评价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48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我的理解与课题思考</a:t>
            </a:r>
          </a:p>
        </p:txBody>
      </p:sp>
      <p:sp>
        <p:nvSpPr>
          <p:cNvPr id="5" name="AIGC 与 UGC 混合的 360° VR 图">
            <a:extLst xmlns:a="http://schemas.openxmlformats.org/drawingml/2006/main">
              <a:ext uri="{FF2B5EF4-FFF2-40B4-BE49-F238E27FC236}">
                <a16:creationId xmlns:a16="http://schemas.microsoft.com/office/drawing/2014/main" id="{E17F9D38-7817-4093-8B38-4B2598E1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AIGC 与 UGC 混合的 360° VR 图片</a:t>
            </a:r>
          </a:p>
        </p:txBody>
      </p:sp>
      <p:sp>
        <p:nvSpPr>
          <p:cNvPr id="6" name="shaw chenyu&#10;上海大学 · 电子信息 ">
            <a:extLst xmlns:a="http://schemas.openxmlformats.org/drawingml/2006/main">
              <a:ext uri="{FF2B5EF4-FFF2-40B4-BE49-F238E27FC236}">
                <a16:creationId xmlns:a16="http://schemas.microsoft.com/office/drawing/2014/main" id="{413FAE2C-314F-4E9B-BBF5-DA9DC1DB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shaw chenyu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上海大学 · 电子信息 · 研究生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87BF2-22F4-4134-B21D-32242795D3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aa2fffa6d45c1"/>
          <a:srcRect xmlns:a="http://schemas.openxmlformats.org/drawingml/2006/main" l="3333" t="16774" r="55000" b="52688"/>
          <a:stretch xmlns:a="http://schemas.openxmlformats.org/drawingml/2006/main"/>
        </p:blipFill>
        <p:spPr>
          <a:xfrm xmlns:a="http://schemas.openxmlformats.org/drawingml/2006/main">
            <a:off x="8220075" y="1695450"/>
            <a:ext cx="333375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学习示意图">
            <a:extLst xmlns:a="http://schemas.openxmlformats.org/drawingml/2006/main">
              <a:ext uri="{FF2B5EF4-FFF2-40B4-BE49-F238E27FC236}">
                <a16:creationId xmlns:a16="http://schemas.microsoft.com/office/drawing/2014/main" id="{FA9FCB8F-CEEF-4DFD-A64C-D4FEAA0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434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学习示意图</a:t>
            </a:r>
          </a:p>
        </p:txBody>
      </p:sp>
    </p:spTree>
    <p:extLst>
      <p:ext uri="{BB962C8B-B14F-4D97-AF65-F5344CB8AC3E}">
        <p14:creationId xmlns:p14="http://schemas.microsoft.com/office/powerpoint/2010/main" val="1404450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1  阅读收获">
            <a:extLst xmlns:a="http://schemas.openxmlformats.org/drawingml/2006/main">
              <a:ext uri="{FF2B5EF4-FFF2-40B4-BE49-F238E27FC236}">
                <a16:creationId xmlns:a16="http://schemas.microsoft.com/office/drawing/2014/main" id="{A38B5666-09AE-4449-A1AC-717466AE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01  阅读收获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78676A-FF2F-4F1A-A536-59395A3C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阅读材料与本次汇报范围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85403536-C8D4-465C-83B4-B08038CA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33DCCCB6-26A4-4A81-8D43-325B9327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IQA 综述（2020）">
            <a:extLst xmlns:a="http://schemas.openxmlformats.org/drawingml/2006/main">
              <a:ext uri="{FF2B5EF4-FFF2-40B4-BE49-F238E27FC236}">
                <a16:creationId xmlns:a16="http://schemas.microsoft.com/office/drawing/2014/main" id="{B667E593-C693-4BC2-A668-EC7172C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IQA 综述（2020）</a:t>
            </a:r>
          </a:p>
        </p:txBody>
      </p:sp>
      <p:sp>
        <p:nvSpPr>
          <p:cNvPr id="6" name="Perceptual image quality">
            <a:extLst xmlns:a="http://schemas.openxmlformats.org/drawingml/2006/main">
              <a:ext uri="{FF2B5EF4-FFF2-40B4-BE49-F238E27FC236}">
                <a16:creationId xmlns:a16="http://schemas.microsoft.com/office/drawing/2014/main" id="{5E50AAF5-92B7-4346-A07F-2FC6472C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666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Perceptual image quality assessment: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a survey</a:t>
            </a:r>
          </a:p>
        </p:txBody>
      </p:sp>
      <p:sp>
        <p:nvSpPr>
          <p:cNvPr id="7" name="主观数据库、FR / RR / NR、全景 IQ">
            <a:extLst xmlns:a="http://schemas.openxmlformats.org/drawingml/2006/main">
              <a:ext uri="{FF2B5EF4-FFF2-40B4-BE49-F238E27FC236}">
                <a16:creationId xmlns:a16="http://schemas.microsoft.com/office/drawing/2014/main" id="{27CC29C4-851C-457A-ADB0-129D0767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主观数据库、FR / RR / NR、全景 IQA、性能评价</a:t>
            </a:r>
          </a:p>
        </p:txBody>
      </p:sp>
      <p:sp>
        <p:nvSpPr>
          <p:cNvPr id="8" name="VQA 综述（2024）">
            <a:extLst xmlns:a="http://schemas.openxmlformats.org/drawingml/2006/main">
              <a:ext uri="{FF2B5EF4-FFF2-40B4-BE49-F238E27FC236}">
                <a16:creationId xmlns:a16="http://schemas.microsoft.com/office/drawing/2014/main" id="{F3306134-A138-49BC-9B4D-AE864F15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VQA 综述（2024）</a:t>
            </a:r>
          </a:p>
        </p:txBody>
      </p:sp>
      <p:sp>
        <p:nvSpPr>
          <p:cNvPr id="9" name="重点借鉴观看条件与 VR 评价思想">
            <a:extLst xmlns:a="http://schemas.openxmlformats.org/drawingml/2006/main">
              <a:ext uri="{FF2B5EF4-FFF2-40B4-BE49-F238E27FC236}">
                <a16:creationId xmlns:a16="http://schemas.microsoft.com/office/drawing/2014/main" id="{7ED3B3DB-68E6-4175-B660-E738110D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681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重点借鉴观看条件与 VR 评价思想</a:t>
            </a:r>
          </a:p>
        </p:txBody>
      </p:sp>
      <p:sp>
        <p:nvSpPr>
          <p:cNvPr id="10" name="我的阅读收获">
            <a:extLst xmlns:a="http://schemas.openxmlformats.org/drawingml/2006/main">
              <a:ext uri="{FF2B5EF4-FFF2-40B4-BE49-F238E27FC236}">
                <a16:creationId xmlns:a16="http://schemas.microsoft.com/office/drawing/2014/main" id="{579FA1D5-ED6A-40EC-847F-CB4820E4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我的阅读收获</a:t>
            </a:r>
          </a:p>
        </p:txBody>
      </p:sp>
      <p:sp>
        <p:nvSpPr>
          <p:cNvPr id="11" name="评价目标&#10;主观标签&#10;模型假设&#10;可信的评测">
            <a:extLst xmlns:a="http://schemas.openxmlformats.org/drawingml/2006/main">
              <a:ext uri="{FF2B5EF4-FFF2-40B4-BE49-F238E27FC236}">
                <a16:creationId xmlns:a16="http://schemas.microsoft.com/office/drawing/2014/main" id="{0A0E96C2-67F1-492D-B024-5125790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86025"/>
            <a:ext cx="3286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评价目标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主观标签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模型假设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可信的评测</a:t>
            </a:r>
          </a:p>
        </p:txBody>
      </p:sp>
      <p:sp>
        <p:nvSpPr>
          <p:cNvPr id="12" name="当前阶段：综述理解与研究设想，尚无正式实验结果">
            <a:extLst xmlns:a="http://schemas.openxmlformats.org/drawingml/2006/main">
              <a:ext uri="{FF2B5EF4-FFF2-40B4-BE49-F238E27FC236}">
                <a16:creationId xmlns:a16="http://schemas.microsoft.com/office/drawing/2014/main" id="{3425B3BA-A343-4A74-82E7-38B3A181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rPr>
              <a:t>当前阶段：综述理解与研究设想，尚无正式实验结果</a:t>
            </a:r>
          </a:p>
        </p:txBody>
      </p:sp>
    </p:spTree>
    <p:extLst>
      <p:ext uri="{BB962C8B-B14F-4D97-AF65-F5344CB8AC3E}">
        <p14:creationId xmlns:p14="http://schemas.microsoft.com/office/powerpoint/2010/main" val="4099085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  阅读收获">
            <a:extLst xmlns:a="http://schemas.openxmlformats.org/drawingml/2006/main">
              <a:ext uri="{FF2B5EF4-FFF2-40B4-BE49-F238E27FC236}">
                <a16:creationId xmlns:a16="http://schemas.microsoft.com/office/drawing/2014/main" id="{A197662F-791E-47FC-970A-544783D1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01  阅读收获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51120A9-E41C-4A33-8D33-85FFDD76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我对 IQA 的理解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52A2F5F3-05B5-450A-9086-80820405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9D9E2D3A-FFA2-4342-BE65-68500742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预测特定观看条件下&#10;人的图像质量判断">
            <a:extLst xmlns:a="http://schemas.openxmlformats.org/drawingml/2006/main">
              <a:ext uri="{FF2B5EF4-FFF2-40B4-BE49-F238E27FC236}">
                <a16:creationId xmlns:a16="http://schemas.microsoft.com/office/drawing/2014/main" id="{0EAC3092-C922-459B-B12C-6921DD80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8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预测特定观看条件下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8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人的图像质量判断</a:t>
            </a:r>
          </a:p>
        </p:txBody>
      </p:sp>
      <p:sp>
        <p:nvSpPr>
          <p:cNvPr id="6" name="输入与目标">
            <a:extLst xmlns:a="http://schemas.openxmlformats.org/drawingml/2006/main">
              <a:ext uri="{FF2B5EF4-FFF2-40B4-BE49-F238E27FC236}">
                <a16:creationId xmlns:a16="http://schemas.microsoft.com/office/drawing/2014/main" id="{2A3E6ECC-07CE-4D10-A371-58D9129A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输入与目标</a:t>
            </a:r>
          </a:p>
        </p:txBody>
      </p:sp>
      <p:sp>
        <p:nvSpPr>
          <p:cNvPr id="7" name="输入是待评价图像，目标是与主观判断对应的质量分数">
            <a:extLst xmlns:a="http://schemas.openxmlformats.org/drawingml/2006/main">
              <a:ext uri="{FF2B5EF4-FFF2-40B4-BE49-F238E27FC236}">
                <a16:creationId xmlns:a16="http://schemas.microsoft.com/office/drawing/2014/main" id="{236351CC-7CBB-4E28-B136-B1C44A96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输入是待评价图像，目标是与主观判断对应的质量分数。</a:t>
            </a:r>
          </a:p>
        </p:txBody>
      </p:sp>
      <p:sp>
        <p:nvSpPr>
          <p:cNvPr id="8" name="标签的条件">
            <a:extLst xmlns:a="http://schemas.openxmlformats.org/drawingml/2006/main">
              <a:ext uri="{FF2B5EF4-FFF2-40B4-BE49-F238E27FC236}">
                <a16:creationId xmlns:a16="http://schemas.microsoft.com/office/drawing/2014/main" id="{06A9C86B-C4BC-4A33-A800-4A94A926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标签的条件</a:t>
            </a:r>
          </a:p>
        </p:txBody>
      </p:sp>
      <p:sp>
        <p:nvSpPr>
          <p:cNvPr id="9" name="评分维度、观察者、显示设备和观看方式需要共同记录">
            <a:extLst xmlns:a="http://schemas.openxmlformats.org/drawingml/2006/main">
              <a:ext uri="{FF2B5EF4-FFF2-40B4-BE49-F238E27FC236}">
                <a16:creationId xmlns:a16="http://schemas.microsoft.com/office/drawing/2014/main" id="{3E6400F1-4768-4226-ADFF-A1857CE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评分维度、观察者、显示设备和观看方式需要共同记录。</a:t>
            </a:r>
          </a:p>
        </p:txBody>
      </p:sp>
    </p:spTree>
    <p:extLst>
      <p:ext uri="{BB962C8B-B14F-4D97-AF65-F5344CB8AC3E}">
        <p14:creationId xmlns:p14="http://schemas.microsoft.com/office/powerpoint/2010/main" val="782742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  阅读收获">
            <a:extLst xmlns:a="http://schemas.openxmlformats.org/drawingml/2006/main">
              <a:ext uri="{FF2B5EF4-FFF2-40B4-BE49-F238E27FC236}">
                <a16:creationId xmlns:a16="http://schemas.microsoft.com/office/drawing/2014/main" id="{560FB25A-F8A8-4775-AA95-2A7CD404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01  阅读收获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913569-2467-4178-A32D-34064DA6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FR、RR 与 NR 的区别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456F3204-DDB9-4029-BAF2-BF29C8A1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013DEC6E-F321-421D-9CAB-F9D83A12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0C474-D389-4D64-80A4-957971ED2448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3905250"/>
                <a:gridCol w="4800600"/>
              </a:tblGrid>
              <a:tr h="792956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推理时可用的信息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在我的课题中的场景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</a:tr>
              <a:tr h="792956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 全参考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完整参考图与待评图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原始全景与其编码或处理版本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792956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RR 部分参考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参考内容的有限特征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需要设计参考特征与传输方式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  <a:tr h="792956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NR 无参考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仅待评价内容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缺少高质量参考的混合全景图片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6" name="我的起点：NR 图片质量预测，训练标签与数据协议">
            <a:extLst xmlns:a="http://schemas.openxmlformats.org/drawingml/2006/main">
              <a:ext uri="{FF2B5EF4-FFF2-40B4-BE49-F238E27FC236}">
                <a16:creationId xmlns:a16="http://schemas.microsoft.com/office/drawing/2014/main" id="{4F9574DF-DED5-491D-B02A-0626E976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我的起点：NR 图片质量预测，训练标签与数据协议仍需可靠</a:t>
            </a:r>
          </a:p>
        </p:txBody>
      </p:sp>
    </p:spTree>
    <p:extLst>
      <p:ext uri="{BB962C8B-B14F-4D97-AF65-F5344CB8AC3E}">
        <p14:creationId xmlns:p14="http://schemas.microsoft.com/office/powerpoint/2010/main" val="867452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1  阅读收获">
            <a:extLst xmlns:a="http://schemas.openxmlformats.org/drawingml/2006/main">
              <a:ext uri="{FF2B5EF4-FFF2-40B4-BE49-F238E27FC236}">
                <a16:creationId xmlns:a16="http://schemas.microsoft.com/office/drawing/2014/main" id="{A7C41890-AA2E-4E7A-9EB2-0371B0BA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01  阅读收获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EC5030-9D7F-4E19-9C22-2A482D63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模糊与噪声的观察线索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8B9C1583-1526-4E9B-A145-4E7DF411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AB0A5BA2-EEE0-432C-B4FB-B9688B85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769B9-1479-4D72-8AB2-E6A22568F2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776c64e4e4072"/>
          <a:srcRect xmlns:a="http://schemas.openxmlformats.org/drawingml/2006/main" l="3167" t="12333" r="2500" b="49556"/>
          <a:stretch xmlns:a="http://schemas.openxmlformats.org/drawingml/2006/main"/>
        </p:blipFill>
        <p:spPr>
          <a:xfrm xmlns:a="http://schemas.openxmlformats.org/drawingml/2006/main">
            <a:off x="609600" y="1695450"/>
            <a:ext cx="7429500" cy="2200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1BD8B-4836-42F3-BD0A-266BFF8F9F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fdeb1d082431f"/>
          <a:srcRect xmlns:a="http://schemas.openxmlformats.org/drawingml/2006/main" l="3167" t="12333" r="2500" b="49556"/>
          <a:stretch xmlns:a="http://schemas.openxmlformats.org/drawingml/2006/main"/>
        </p:blipFill>
        <p:spPr>
          <a:xfrm xmlns:a="http://schemas.openxmlformats.org/drawingml/2006/main">
            <a:off x="609600" y="4105275"/>
            <a:ext cx="7429500" cy="2057400"/>
          </a:xfrm>
          <a:prstGeom xmlns:a="http://schemas.openxmlformats.org/drawingml/2006/main" prst="rect">
            <a:avLst/>
          </a:prstGeom>
        </p:spPr>
      </p:pic>
      <p:sp>
        <p:nvSpPr>
          <p:cNvPr id="7" name="模糊">
            <a:extLst xmlns:a="http://schemas.openxmlformats.org/drawingml/2006/main">
              <a:ext uri="{FF2B5EF4-FFF2-40B4-BE49-F238E27FC236}">
                <a16:creationId xmlns:a16="http://schemas.microsoft.com/office/drawing/2014/main" id="{07A39DE7-5431-4E1D-8C5A-9419A846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383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模糊</a:t>
            </a:r>
          </a:p>
        </p:txBody>
      </p:sp>
      <p:sp>
        <p:nvSpPr>
          <p:cNvPr id="8" name="边缘变软&#10;细节逐渐消失">
            <a:extLst xmlns:a="http://schemas.openxmlformats.org/drawingml/2006/main">
              <a:ext uri="{FF2B5EF4-FFF2-40B4-BE49-F238E27FC236}">
                <a16:creationId xmlns:a16="http://schemas.microsoft.com/office/drawing/2014/main" id="{39A78CA2-B4CB-43AE-8651-883FC25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4574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边缘变软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细节逐渐消失</a:t>
            </a:r>
          </a:p>
        </p:txBody>
      </p:sp>
      <p:sp>
        <p:nvSpPr>
          <p:cNvPr id="9" name="噪声">
            <a:extLst xmlns:a="http://schemas.openxmlformats.org/drawingml/2006/main">
              <a:ext uri="{FF2B5EF4-FFF2-40B4-BE49-F238E27FC236}">
                <a16:creationId xmlns:a16="http://schemas.microsoft.com/office/drawing/2014/main" id="{210A9F02-6C32-4B1A-B41B-C425A4F6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195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噪声</a:t>
            </a:r>
          </a:p>
        </p:txBody>
      </p:sp>
      <p:sp>
        <p:nvSpPr>
          <p:cNvPr id="10" name="随机颗粒或波动&#10;高频多也可能低质">
            <a:extLst xmlns:a="http://schemas.openxmlformats.org/drawingml/2006/main">
              <a:ext uri="{FF2B5EF4-FFF2-40B4-BE49-F238E27FC236}">
                <a16:creationId xmlns:a16="http://schemas.microsoft.com/office/drawing/2014/main" id="{85A8D390-3BD2-4032-9D71-F51144B0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3870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随机颗粒或波动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高频多也可能低质</a:t>
            </a:r>
          </a:p>
        </p:txBody>
      </p:sp>
    </p:spTree>
    <p:extLst>
      <p:ext uri="{BB962C8B-B14F-4D97-AF65-F5344CB8AC3E}">
        <p14:creationId xmlns:p14="http://schemas.microsoft.com/office/powerpoint/2010/main" val="1511745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1  阅读收获">
            <a:extLst xmlns:a="http://schemas.openxmlformats.org/drawingml/2006/main">
              <a:ext uri="{FF2B5EF4-FFF2-40B4-BE49-F238E27FC236}">
                <a16:creationId xmlns:a16="http://schemas.microsoft.com/office/drawing/2014/main" id="{A90207DD-A5EA-443A-8910-E421EB8C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01  阅读收获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FFD48A-1D9A-4C2E-BD9F-A9D00D98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伪影与处理链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69E7E1F3-BADD-4438-BF95-2EF0799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E06DA4F7-24CE-4211-87A9-A8D4D922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D2DD0-7F3B-4BAF-B3C2-338B35DBFA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783d616d840b9"/>
          <a:srcRect xmlns:a="http://schemas.openxmlformats.org/drawingml/2006/main" l="2500" t="11176" r="2667" b="37745"/>
          <a:stretch xmlns:a="http://schemas.openxmlformats.org/drawingml/2006/main"/>
        </p:blipFill>
        <p:spPr>
          <a:xfrm xmlns:a="http://schemas.openxmlformats.org/drawingml/2006/main">
            <a:off x="609600" y="1752600"/>
            <a:ext cx="7572375" cy="3609975"/>
          </a:xfrm>
          <a:prstGeom xmlns:a="http://schemas.openxmlformats.org/drawingml/2006/main" prst="rect">
            <a:avLst/>
          </a:prstGeom>
        </p:spPr>
      </p:pic>
      <p:sp>
        <p:nvSpPr>
          <p:cNvPr id="6" name="可见线索">
            <a:extLst xmlns:a="http://schemas.openxmlformats.org/drawingml/2006/main">
              <a:ext uri="{FF2B5EF4-FFF2-40B4-BE49-F238E27FC236}">
                <a16:creationId xmlns:a16="http://schemas.microsoft.com/office/drawing/2014/main" id="{922FE852-0A25-427B-BE97-EE572024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可见线索</a:t>
            </a:r>
          </a:p>
        </p:txBody>
      </p:sp>
      <p:sp>
        <p:nvSpPr>
          <p:cNvPr id="7" name="分块边界&#10;强边缘旁的波纹&#10;渐变形成阶梯&#10;斜线出现">
            <a:extLst xmlns:a="http://schemas.openxmlformats.org/drawingml/2006/main">
              <a:ext uri="{FF2B5EF4-FFF2-40B4-BE49-F238E27FC236}">
                <a16:creationId xmlns:a16="http://schemas.microsoft.com/office/drawing/2014/main" id="{C3DFA292-D681-493F-BB79-31573E3F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9825"/>
            <a:ext cx="3000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分块边界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强边缘旁的波纹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渐变形成阶梯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斜线出现锯齿</a:t>
            </a:r>
          </a:p>
        </p:txBody>
      </p:sp>
      <p:sp>
        <p:nvSpPr>
          <p:cNvPr id="8" name="我需要同时记录：拼接、重采样、编辑与压缩等处理过">
            <a:extLst xmlns:a="http://schemas.openxmlformats.org/drawingml/2006/main">
              <a:ext uri="{FF2B5EF4-FFF2-40B4-BE49-F238E27FC236}">
                <a16:creationId xmlns:a16="http://schemas.microsoft.com/office/drawing/2014/main" id="{862EF858-08BA-4387-8764-5B8A3C31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rPr>
              <a:t>我需要同时记录：拼接、重采样、编辑与压缩等处理过程</a:t>
            </a:r>
          </a:p>
        </p:txBody>
      </p:sp>
    </p:spTree>
    <p:extLst>
      <p:ext uri="{BB962C8B-B14F-4D97-AF65-F5344CB8AC3E}">
        <p14:creationId xmlns:p14="http://schemas.microsoft.com/office/powerpoint/2010/main" val="2086871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  阅读收获">
            <a:extLst xmlns:a="http://schemas.openxmlformats.org/drawingml/2006/main">
              <a:ext uri="{FF2B5EF4-FFF2-40B4-BE49-F238E27FC236}">
                <a16:creationId xmlns:a16="http://schemas.microsoft.com/office/drawing/2014/main" id="{F850A650-F3F8-4F89-8F30-5444E1E9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01  阅读收获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620C01-C9D9-45E6-A8B7-F1AD4698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IQA 方法及其假设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BF49C30A-9EF4-4854-9EA4-C67630C1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6BCB021D-9A57-412F-84EA-1CA47B2A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11802-883B-4D78-9B09-EDFD9DF293DD}"/>
              </a:ext>
            </a:extLst>
          </p:cNvPr>
          <p:cNvGraphicFramePr/>
          <p:nvPr/>
        </p:nvGraphicFramePr>
        <p:xfrm>
          <a:off xmlns:a="http://schemas.openxmlformats.org/drawingml/2006/main" x="609600" y="18002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00500"/>
                <a:gridCol w="4495800"/>
              </a:tblGrid>
              <a:tr h="83343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核心思想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我需要检查的前提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</a:tr>
              <a:tr h="83343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PSNR / SSIM（FR）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像素误差 / 局部结构相似性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参考可信、尺寸对齐、数值范围一致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83343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NSS 方法（NR）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图像统计规律与质量变化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生成内容与投影是否偏离自然先验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  <a:tr h="83343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学习方法（常见 NR）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特征、局部或视口汇聚、质量回归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标签可靠、训练分布与目标场景匹配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6" name="我的关注点：方法所用信息与假设能否适用于混合全景">
            <a:extLst xmlns:a="http://schemas.openxmlformats.org/drawingml/2006/main">
              <a:ext uri="{FF2B5EF4-FFF2-40B4-BE49-F238E27FC236}">
                <a16:creationId xmlns:a16="http://schemas.microsoft.com/office/drawing/2014/main" id="{EAF22949-03EE-4B2A-828C-983224EB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我的关注点：方法所用信息与假设能否适用于混合全景</a:t>
            </a:r>
          </a:p>
        </p:txBody>
      </p:sp>
    </p:spTree>
    <p:extLst>
      <p:ext uri="{BB962C8B-B14F-4D97-AF65-F5344CB8AC3E}">
        <p14:creationId xmlns:p14="http://schemas.microsoft.com/office/powerpoint/2010/main" val="1656385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1  阅读收获">
            <a:extLst xmlns:a="http://schemas.openxmlformats.org/drawingml/2006/main">
              <a:ext uri="{FF2B5EF4-FFF2-40B4-BE49-F238E27FC236}">
                <a16:creationId xmlns:a16="http://schemas.microsoft.com/office/drawing/2014/main" id="{D11BF847-3687-4BEC-9274-AD492EEA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01  阅读收获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65747E-1101-4851-893B-D2BE45C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MOS 与评分分歧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B123B434-D436-4144-9849-27EBA2CE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2DD1DAA3-0076-4451-A2BE-FE124247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C10F7-FDE3-4C89-B882-96C3D7EA60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5d611dc6a41ea"/>
          <a:srcRect xmlns:a="http://schemas.openxmlformats.org/drawingml/2006/main" l="2500" t="14583" r="2500" b="33056"/>
          <a:stretch xmlns:a="http://schemas.openxmlformats.org/drawingml/2006/main"/>
        </p:blipFill>
        <p:spPr>
          <a:xfrm xmlns:a="http://schemas.openxmlformats.org/drawingml/2006/main">
            <a:off x="609600" y="1581150"/>
            <a:ext cx="1097280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教学构造分数，非实验结果">
            <a:extLst xmlns:a="http://schemas.openxmlformats.org/drawingml/2006/main">
              <a:ext uri="{FF2B5EF4-FFF2-40B4-BE49-F238E27FC236}">
                <a16:creationId xmlns:a16="http://schemas.microsoft.com/office/drawing/2014/main" id="{5C3547CD-0AFC-48DC-AFAA-AF75DC07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rPr>
              <a:t>教学构造分数，非实验结果</a:t>
            </a:r>
          </a:p>
        </p:txBody>
      </p:sp>
      <p:sp>
        <p:nvSpPr>
          <p:cNvPr id="7" name="我的建库关注：保留逐人评分，统一评分问题与观看条">
            <a:extLst xmlns:a="http://schemas.openxmlformats.org/drawingml/2006/main">
              <a:ext uri="{FF2B5EF4-FFF2-40B4-BE49-F238E27FC236}">
                <a16:creationId xmlns:a16="http://schemas.microsoft.com/office/drawing/2014/main" id="{D07828ED-8A50-4C09-A8AD-187EE65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0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我的建库关注：保留逐人评分，统一评分问题与观看条件</a:t>
            </a:r>
          </a:p>
        </p:txBody>
      </p:sp>
    </p:spTree>
    <p:extLst>
      <p:ext uri="{BB962C8B-B14F-4D97-AF65-F5344CB8AC3E}">
        <p14:creationId xmlns:p14="http://schemas.microsoft.com/office/powerpoint/2010/main" val="508893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  阅读收获">
            <a:extLst xmlns:a="http://schemas.openxmlformats.org/drawingml/2006/main">
              <a:ext uri="{FF2B5EF4-FFF2-40B4-BE49-F238E27FC236}">
                <a16:creationId xmlns:a16="http://schemas.microsoft.com/office/drawing/2014/main" id="{FC0F9EEB-7BC6-4FBA-94E3-86B7AD3D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01  阅读收获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8DACE7-5CF0-4BFF-8875-57703D2A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VQA 综述对我的启发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A31EE07F-F70C-444B-95EB-112A1B8E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FEF76295-24F5-4DFC-9F00-E28BA696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视频评价中的因素">
            <a:extLst xmlns:a="http://schemas.openxmlformats.org/drawingml/2006/main">
              <a:ext uri="{FF2B5EF4-FFF2-40B4-BE49-F238E27FC236}">
                <a16:creationId xmlns:a16="http://schemas.microsoft.com/office/drawing/2014/main" id="{9928173C-7B82-470E-ADA4-8576C28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视频评价中的因素</a:t>
            </a:r>
          </a:p>
        </p:txBody>
      </p:sp>
      <p:sp>
        <p:nvSpPr>
          <p:cNvPr id="6" name="帧内模糊与压缩&#10;运动、闪烁和帧率&#10;时间上的质量汇">
            <a:extLst xmlns:a="http://schemas.openxmlformats.org/drawingml/2006/main">
              <a:ext uri="{FF2B5EF4-FFF2-40B4-BE49-F238E27FC236}">
                <a16:creationId xmlns:a16="http://schemas.microsoft.com/office/drawing/2014/main" id="{0984E3A6-1E47-45AD-B357-D53E4147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95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帧内模糊与压缩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运动、闪烁和帧率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时间上的质量汇聚</a:t>
            </a:r>
          </a:p>
        </p:txBody>
      </p:sp>
      <p:sp>
        <p:nvSpPr>
          <p:cNvPr id="7" name="我优先借鉴的部分">
            <a:extLst xmlns:a="http://schemas.openxmlformats.org/drawingml/2006/main">
              <a:ext uri="{FF2B5EF4-FFF2-40B4-BE49-F238E27FC236}">
                <a16:creationId xmlns:a16="http://schemas.microsoft.com/office/drawing/2014/main" id="{930EF997-92BF-473D-82AF-61B719A8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66900"/>
            <a:ext cx="5038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我优先借鉴的部分</a:t>
            </a:r>
          </a:p>
        </p:txBody>
      </p:sp>
      <p:sp>
        <p:nvSpPr>
          <p:cNvPr id="8" name="显示与评分条件&#10;VR 中的可见区域&#10;观看行为影响">
            <a:extLst xmlns:a="http://schemas.openxmlformats.org/drawingml/2006/main">
              <a:ext uri="{FF2B5EF4-FFF2-40B4-BE49-F238E27FC236}">
                <a16:creationId xmlns:a16="http://schemas.microsoft.com/office/drawing/2014/main" id="{1CD4FF71-E7A2-486D-B6D3-7D6486EE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00325"/>
            <a:ext cx="50387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显示与评分条件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VR 中的可见区域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观看行为影响主观判断</a:t>
            </a:r>
          </a:p>
        </p:txBody>
      </p:sp>
      <p:sp>
        <p:nvSpPr>
          <p:cNvPr id="9" name="当前对象：360° 静态图片，浏览视口可以随头部">
            <a:extLst xmlns:a="http://schemas.openxmlformats.org/drawingml/2006/main">
              <a:ext uri="{FF2B5EF4-FFF2-40B4-BE49-F238E27FC236}">
                <a16:creationId xmlns:a16="http://schemas.microsoft.com/office/drawing/2014/main" id="{6BC1A114-5015-4359-AC43-B0EB168C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当前对象：360° 静态图片，浏览视口可以随头部转动而变化</a:t>
            </a:r>
          </a:p>
        </p:txBody>
      </p:sp>
    </p:spTree>
    <p:extLst>
      <p:ext uri="{BB962C8B-B14F-4D97-AF65-F5344CB8AC3E}">
        <p14:creationId xmlns:p14="http://schemas.microsoft.com/office/powerpoint/2010/main" val="12214045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2  课题思考">
            <a:extLst xmlns:a="http://schemas.openxmlformats.org/drawingml/2006/main">
              <a:ext uri="{FF2B5EF4-FFF2-40B4-BE49-F238E27FC236}">
                <a16:creationId xmlns:a16="http://schemas.microsoft.com/office/drawing/2014/main" id="{3BE69AC2-2401-4638-9A37-1FE82F11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02  课题思考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D4DAD3-A831-4591-977D-00BC128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我的课题对象与来源记录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43138002-727A-420A-A9F0-A378403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0817634F-1AE2-4FA3-95E8-C958C087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A81A3-DD69-4E92-93C4-9060F8BCCB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1b80321d74705"/>
          <a:srcRect xmlns:a="http://schemas.openxmlformats.org/drawingml/2006/main" l="2583" t="15132" r="2500" b="18816"/>
          <a:stretch xmlns:a="http://schemas.openxmlformats.org/drawingml/2006/main"/>
        </p:blipFill>
        <p:spPr>
          <a:xfrm xmlns:a="http://schemas.openxmlformats.org/drawingml/2006/main">
            <a:off x="609600" y="1724025"/>
            <a:ext cx="7810500" cy="3581400"/>
          </a:xfrm>
          <a:prstGeom xmlns:a="http://schemas.openxmlformats.org/drawingml/2006/main" prst="rect">
            <a:avLst/>
          </a:prstGeom>
        </p:spPr>
      </p:pic>
      <p:sp>
        <p:nvSpPr>
          <p:cNvPr id="6" name="我的暂定边界">
            <a:extLst xmlns:a="http://schemas.openxmlformats.org/drawingml/2006/main">
              <a:ext uri="{FF2B5EF4-FFF2-40B4-BE49-F238E27FC236}">
                <a16:creationId xmlns:a16="http://schemas.microsoft.com/office/drawing/2014/main" id="{CCF2AD6E-389F-4671-8803-E9A5505B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81175"/>
            <a:ext cx="287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我的暂定边界</a:t>
            </a:r>
          </a:p>
        </p:txBody>
      </p:sp>
      <p:sp>
        <p:nvSpPr>
          <p:cNvPr id="7" name="360° 静态图片&#10;&#10;数据库混合来源&#10;&#10;AI 编">
            <a:extLst xmlns:a="http://schemas.openxmlformats.org/drawingml/2006/main">
              <a:ext uri="{FF2B5EF4-FFF2-40B4-BE49-F238E27FC236}">
                <a16:creationId xmlns:a16="http://schemas.microsoft.com/office/drawing/2014/main" id="{819B5FE8-27B6-4340-B103-0CEF38F8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19350"/>
            <a:ext cx="29146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360° 静态图片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数据库混合来源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AI 编辑单独记录</a:t>
            </a:r>
          </a:p>
        </p:txBody>
      </p:sp>
      <p:sp>
        <p:nvSpPr>
          <p:cNvPr id="8" name="来源记录与主观质量标签分别建立">
            <a:extLst xmlns:a="http://schemas.openxmlformats.org/drawingml/2006/main">
              <a:ext uri="{FF2B5EF4-FFF2-40B4-BE49-F238E27FC236}">
                <a16:creationId xmlns:a16="http://schemas.microsoft.com/office/drawing/2014/main" id="{1583F26C-BA7B-451E-BC32-97EA0972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rPr>
              <a:t>来源记录与主观质量标签分别建立</a:t>
            </a:r>
          </a:p>
        </p:txBody>
      </p:sp>
    </p:spTree>
    <p:extLst>
      <p:ext uri="{BB962C8B-B14F-4D97-AF65-F5344CB8AC3E}">
        <p14:creationId xmlns:p14="http://schemas.microsoft.com/office/powerpoint/2010/main" val="19593237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2  课题思考">
            <a:extLst xmlns:a="http://schemas.openxmlformats.org/drawingml/2006/main">
              <a:ext uri="{FF2B5EF4-FFF2-40B4-BE49-F238E27FC236}">
                <a16:creationId xmlns:a16="http://schemas.microsoft.com/office/drawing/2014/main" id="{2DC3302A-1107-42AA-879F-E59FE04A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02  课题思考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55C8D7-B1C5-4AD6-BDAC-674C9CC1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清晰度之外的结构问题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96E492CF-4D46-4054-A1DA-B348B0A3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DD94DDE8-EBA1-4EF4-844D-0ED4E6A4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F66B4-3A20-4169-BE29-C6B32C5B9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f7e45111c4287"/>
          <a:srcRect xmlns:a="http://schemas.openxmlformats.org/drawingml/2006/main" l="23667" t="14333" r="6417" b="65778"/>
          <a:stretch xmlns:a="http://schemas.openxmlformats.org/drawingml/2006/main"/>
        </p:blipFill>
        <p:spPr>
          <a:xfrm xmlns:a="http://schemas.openxmlformats.org/drawingml/2006/main">
            <a:off x="609600" y="1676400"/>
            <a:ext cx="10972800" cy="2428875"/>
          </a:xfrm>
          <a:prstGeom xmlns:a="http://schemas.openxmlformats.org/drawingml/2006/main" prst="rect">
            <a:avLst/>
          </a:prstGeom>
        </p:spPr>
      </p:pic>
      <p:sp>
        <p:nvSpPr>
          <p:cNvPr id="6" name="连接关系连贯">
            <a:extLst xmlns:a="http://schemas.openxmlformats.org/drawingml/2006/main">
              <a:ext uri="{FF2B5EF4-FFF2-40B4-BE49-F238E27FC236}">
                <a16:creationId xmlns:a16="http://schemas.microsoft.com/office/drawing/2014/main" id="{2075B40C-BBC0-4CEB-B534-44CBB3B9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19575"/>
            <a:ext cx="4476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连接关系连贯</a:t>
            </a:r>
          </a:p>
        </p:txBody>
      </p:sp>
      <p:sp>
        <p:nvSpPr>
          <p:cNvPr id="7" name="结构连接异常示意">
            <a:extLst xmlns:a="http://schemas.openxmlformats.org/drawingml/2006/main">
              <a:ext uri="{FF2B5EF4-FFF2-40B4-BE49-F238E27FC236}">
                <a16:creationId xmlns:a16="http://schemas.microsoft.com/office/drawing/2014/main" id="{34019EA5-DCC6-4485-A1CD-B1BC2113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21957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rPr>
              <a:t>结构连接异常示意</a:t>
            </a:r>
          </a:p>
        </p:txBody>
      </p:sp>
      <p:sp>
        <p:nvSpPr>
          <p:cNvPr id="8" name="待验证：这类异常怎样影响整体质量评分？">
            <a:extLst xmlns:a="http://schemas.openxmlformats.org/drawingml/2006/main">
              <a:ext uri="{FF2B5EF4-FFF2-40B4-BE49-F238E27FC236}">
                <a16:creationId xmlns:a16="http://schemas.microsoft.com/office/drawing/2014/main" id="{26407066-1C41-42F3-80BA-9D7BC110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待验证：这类异常怎样影响整体质量评分？</a:t>
            </a:r>
          </a:p>
        </p:txBody>
      </p:sp>
      <p:sp>
        <p:nvSpPr>
          <p:cNvPr id="9" name="整体画质、结构合理性、提示词一致性与美感需要分别">
            <a:extLst xmlns:a="http://schemas.openxmlformats.org/drawingml/2006/main">
              <a:ext uri="{FF2B5EF4-FFF2-40B4-BE49-F238E27FC236}">
                <a16:creationId xmlns:a16="http://schemas.microsoft.com/office/drawing/2014/main" id="{7416E90F-2FF5-4926-982F-5CFDA41D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整体画质、结构合理性、提示词一致性与美感需要分别定义</a:t>
            </a:r>
          </a:p>
        </p:txBody>
      </p:sp>
    </p:spTree>
    <p:extLst>
      <p:ext uri="{BB962C8B-B14F-4D97-AF65-F5344CB8AC3E}">
        <p14:creationId xmlns:p14="http://schemas.microsoft.com/office/powerpoint/2010/main" val="934702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02  课题思考">
            <a:extLst xmlns:a="http://schemas.openxmlformats.org/drawingml/2006/main">
              <a:ext uri="{FF2B5EF4-FFF2-40B4-BE49-F238E27FC236}">
                <a16:creationId xmlns:a16="http://schemas.microsoft.com/office/drawing/2014/main" id="{1AB9CB5B-45CA-4A48-B6DA-A0E7F76E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02  课题思考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B77B3A-F23E-412A-A6DE-13DC866B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全景几何与观看视口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7E75646D-1C83-4771-A985-0572E1D8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02A76315-4DF1-4877-A739-981530DA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50E00-D588-4605-9088-16C91C815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33ee123f44187"/>
          <a:srcRect xmlns:a="http://schemas.openxmlformats.org/drawingml/2006/main" l="3917" t="13542" r="3750" b="4583"/>
          <a:stretch xmlns:a="http://schemas.openxmlformats.org/drawingml/2006/main"/>
        </p:blipFill>
        <p:spPr>
          <a:xfrm xmlns:a="http://schemas.openxmlformats.org/drawingml/2006/main">
            <a:off x="609600" y="1685925"/>
            <a:ext cx="7800975" cy="4514850"/>
          </a:xfrm>
          <a:prstGeom xmlns:a="http://schemas.openxmlformats.org/drawingml/2006/main" prst="rect">
            <a:avLst/>
          </a:prstGeom>
        </p:spPr>
      </p:pic>
      <p:sp>
        <p:nvSpPr>
          <p:cNvPr id="6" name="面积修正">
            <a:extLst xmlns:a="http://schemas.openxmlformats.org/drawingml/2006/main">
              <a:ext uri="{FF2B5EF4-FFF2-40B4-BE49-F238E27FC236}">
                <a16:creationId xmlns:a16="http://schemas.microsoft.com/office/drawing/2014/main" id="{7A8380A7-B28E-457E-AB95-7C230697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685925"/>
            <a:ext cx="270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面积修正</a:t>
            </a:r>
          </a:p>
        </p:txBody>
      </p:sp>
      <p:sp>
        <p:nvSpPr>
          <p:cNvPr id="7" name="权重可取 cos φ">
            <a:extLst xmlns:a="http://schemas.openxmlformats.org/drawingml/2006/main">
              <a:ext uri="{FF2B5EF4-FFF2-40B4-BE49-F238E27FC236}">
                <a16:creationId xmlns:a16="http://schemas.microsoft.com/office/drawing/2014/main" id="{F4B17E94-13F6-426F-AF03-024B4624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09800"/>
            <a:ext cx="2705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权重可取 cos φ</a:t>
            </a:r>
          </a:p>
        </p:txBody>
      </p:sp>
      <p:sp>
        <p:nvSpPr>
          <p:cNvPr id="8" name="视口投影">
            <a:extLst xmlns:a="http://schemas.openxmlformats.org/drawingml/2006/main">
              <a:ext uri="{FF2B5EF4-FFF2-40B4-BE49-F238E27FC236}">
                <a16:creationId xmlns:a16="http://schemas.microsoft.com/office/drawing/2014/main" id="{682A90CF-75D2-4BD4-AC7E-D6E7D648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14675"/>
            <a:ext cx="270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视口投影</a:t>
            </a:r>
          </a:p>
        </p:txBody>
      </p:sp>
      <p:sp>
        <p:nvSpPr>
          <p:cNvPr id="9" name="偏航、俯仰、FOV">
            <a:extLst xmlns:a="http://schemas.openxmlformats.org/drawingml/2006/main">
              <a:ext uri="{FF2B5EF4-FFF2-40B4-BE49-F238E27FC236}">
                <a16:creationId xmlns:a16="http://schemas.microsoft.com/office/drawing/2014/main" id="{0C0CC78F-71CF-4728-9C01-32C93C2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38550"/>
            <a:ext cx="2705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偏航、俯仰、FOV</a:t>
            </a:r>
          </a:p>
        </p:txBody>
      </p:sp>
      <p:sp>
        <p:nvSpPr>
          <p:cNvPr id="10" name="观看行为">
            <a:extLst xmlns:a="http://schemas.openxmlformats.org/drawingml/2006/main">
              <a:ext uri="{FF2B5EF4-FFF2-40B4-BE49-F238E27FC236}">
                <a16:creationId xmlns:a16="http://schemas.microsoft.com/office/drawing/2014/main" id="{85B76EF5-1B24-4C1E-B114-CAB9E74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24375"/>
            <a:ext cx="2705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观看行为</a:t>
            </a:r>
          </a:p>
        </p:txBody>
      </p:sp>
      <p:sp>
        <p:nvSpPr>
          <p:cNvPr id="11" name="方向与停留时间">
            <a:extLst xmlns:a="http://schemas.openxmlformats.org/drawingml/2006/main">
              <a:ext uri="{FF2B5EF4-FFF2-40B4-BE49-F238E27FC236}">
                <a16:creationId xmlns:a16="http://schemas.microsoft.com/office/drawing/2014/main" id="{3F005605-40FD-44E3-AD52-9A2A0241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048250"/>
            <a:ext cx="2705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方向与停留时间</a:t>
            </a:r>
          </a:p>
        </p:txBody>
      </p:sp>
    </p:spTree>
    <p:extLst>
      <p:ext uri="{BB962C8B-B14F-4D97-AF65-F5344CB8AC3E}">
        <p14:creationId xmlns:p14="http://schemas.microsoft.com/office/powerpoint/2010/main" val="19843692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3  拟开展的工作">
            <a:extLst xmlns:a="http://schemas.openxmlformats.org/drawingml/2006/main">
              <a:ext uri="{FF2B5EF4-FFF2-40B4-BE49-F238E27FC236}">
                <a16:creationId xmlns:a16="http://schemas.microsoft.com/office/drawing/2014/main" id="{BCB4A23F-8B66-4660-9658-0752D9B2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03  拟开展的工作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72BF388-496C-478E-A7C1-B8858733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数据库建设的初步方案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55B2946B-E7E5-47AE-8BE4-430DB81C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D0738BD9-6563-4976-8081-6CC7103E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BFC62-0CF1-4E20-BEAB-3510A60E0AFF}"/>
              </a:ext>
            </a:extLst>
          </p:cNvPr>
          <p:cNvGraphicFramePr/>
          <p:nvPr/>
        </p:nvGraphicFramePr>
        <p:xfrm>
          <a:off xmlns:a="http://schemas.openxmlformats.org/drawingml/2006/main" x="609600" y="18002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0300"/>
                <a:gridCol w="8572500"/>
              </a:tblGrid>
              <a:tr h="69342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我准备记录或检查的内容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</a:tr>
              <a:tr h="69342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样本覆盖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来源、场景、失真与质量范围，避免明显混杂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69342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文件与内容关系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文件哈希、母图、场景与派生版本的内容家族 ID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  <a:tr h="69342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来源与全景属性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 / 生成 / 编辑链，投影、分辨率与许可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69342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主观标注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评分维度、逐人分数、显示条件与不确定性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  <p:sp>
        <p:nvSpPr>
          <p:cNvPr id="6" name="先用预实验检验评分问题与流程，再确定正式规模">
            <a:extLst xmlns:a="http://schemas.openxmlformats.org/drawingml/2006/main">
              <a:ext uri="{FF2B5EF4-FFF2-40B4-BE49-F238E27FC236}">
                <a16:creationId xmlns:a16="http://schemas.microsoft.com/office/drawing/2014/main" id="{2A359345-32A8-4800-B01C-9F7BCB9C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先用预实验检验评分问题与流程，再确定正式规模</a:t>
            </a:r>
          </a:p>
        </p:txBody>
      </p:sp>
    </p:spTree>
    <p:extLst>
      <p:ext uri="{BB962C8B-B14F-4D97-AF65-F5344CB8AC3E}">
        <p14:creationId xmlns:p14="http://schemas.microsoft.com/office/powerpoint/2010/main" val="20422124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3  拟开展的工作">
            <a:extLst xmlns:a="http://schemas.openxmlformats.org/drawingml/2006/main">
              <a:ext uri="{FF2B5EF4-FFF2-40B4-BE49-F238E27FC236}">
                <a16:creationId xmlns:a16="http://schemas.microsoft.com/office/drawing/2014/main" id="{8D3E51B2-BFEE-4313-991C-EB7AACF0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03  拟开展的工作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C0C415-E267-45E7-864D-5586B71C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内容家族与数据泄漏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C7AB7222-254E-4545-AD60-E722F3D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29915DDA-14C7-4FEE-BD0F-4B5BACE0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AE560-7749-42E2-AFB2-D14E6E9E64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6b7a9749f4996"/>
          <a:srcRect xmlns:a="http://schemas.openxmlformats.org/drawingml/2006/main" l="2500" t="15526" r="2500" b="21711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10972800" cy="4210050"/>
          </a:xfrm>
          <a:prstGeom xmlns:a="http://schemas.openxmlformats.org/drawingml/2006/main" prst="rect">
            <a:avLst/>
          </a:prstGeom>
        </p:spPr>
      </p:pic>
      <p:sp>
        <p:nvSpPr>
          <p:cNvPr id="6" name="同场景、失真版本、AI 编辑母图与近重复内容都需">
            <a:extLst xmlns:a="http://schemas.openxmlformats.org/drawingml/2006/main">
              <a:ext uri="{FF2B5EF4-FFF2-40B4-BE49-F238E27FC236}">
                <a16:creationId xmlns:a16="http://schemas.microsoft.com/office/drawing/2014/main" id="{F1D6BBA6-88CA-4A00-AE1B-F8A5D8D4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8108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rPr>
              <a:t>同场景、失真版本、AI 编辑母图与近重复内容都需要核验</a:t>
            </a:r>
          </a:p>
        </p:txBody>
      </p:sp>
    </p:spTree>
    <p:extLst>
      <p:ext uri="{BB962C8B-B14F-4D97-AF65-F5344CB8AC3E}">
        <p14:creationId xmlns:p14="http://schemas.microsoft.com/office/powerpoint/2010/main" val="10572401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3  拟开展的工作">
            <a:extLst xmlns:a="http://schemas.openxmlformats.org/drawingml/2006/main">
              <a:ext uri="{FF2B5EF4-FFF2-40B4-BE49-F238E27FC236}">
                <a16:creationId xmlns:a16="http://schemas.microsoft.com/office/drawing/2014/main" id="{F01FD1C8-7B05-4CBC-A14D-2EDA3CA1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03  拟开展的工作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482630-CEDC-4A77-ACE7-2D26ED1D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我准备搭建的最小 NR 基线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34D2BD0B-05ED-43A1-AD9D-8C974DBA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1BB46D8A-A82A-432E-B52E-8299E30D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5427D-E472-417D-BDEA-527979FBF388}"/>
              </a:ext>
            </a:extLst>
          </p:cNvPr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0350"/>
                <a:gridCol w="8172450"/>
              </a:tblGrid>
              <a:tr h="68961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暂定实现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</a:tr>
              <a:tr h="68961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 视口采样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固定偏航 / 俯仰、FOV、分辨率与插值方式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68961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 特征提取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冻结已有编码器，固定输入预处理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  <a:tr h="68961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 特征汇聚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先采用简单均值汇聚作为比较起点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689610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 质量回归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025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轻量回归器预测全景 MOS，保存逐图预测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  <p:sp>
        <p:nvSpPr>
          <p:cNvPr id="6" name="全景 MOS 用于监督整体预测，局部质量标签需要">
            <a:extLst xmlns:a="http://schemas.openxmlformats.org/drawingml/2006/main">
              <a:ext uri="{FF2B5EF4-FFF2-40B4-BE49-F238E27FC236}">
                <a16:creationId xmlns:a16="http://schemas.microsoft.com/office/drawing/2014/main" id="{C2DD2E39-3CD2-4E3B-A426-0269625F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rPr>
              <a:t>全景 MOS 用于监督整体预测，局部质量标签需要额外依据</a:t>
            </a:r>
          </a:p>
        </p:txBody>
      </p:sp>
    </p:spTree>
    <p:extLst>
      <p:ext uri="{BB962C8B-B14F-4D97-AF65-F5344CB8AC3E}">
        <p14:creationId xmlns:p14="http://schemas.microsoft.com/office/powerpoint/2010/main" val="3876819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3  拟开展的工作">
            <a:extLst xmlns:a="http://schemas.openxmlformats.org/drawingml/2006/main">
              <a:ext uri="{FF2B5EF4-FFF2-40B4-BE49-F238E27FC236}">
                <a16:creationId xmlns:a16="http://schemas.microsoft.com/office/drawing/2014/main" id="{AD2F0B31-80B8-414C-B161-D383859A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03  拟开展的工作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CF43D9-8EBE-48A7-925E-1254C452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我怎样判断模型是否有效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AB72040F-59C0-4499-874C-F82C85CE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33CF2942-42F4-468D-B4CF-603B071B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924B2-444F-4AF1-AC1E-5FE07B7E1C0E}"/>
              </a:ext>
            </a:extLst>
          </p:cNvPr>
          <p:cNvGraphicFramePr/>
          <p:nvPr/>
        </p:nvGraphicFramePr>
        <p:xfrm>
          <a:off xmlns:a="http://schemas.openxmlformats.org/drawingml/2006/main" x="609600" y="1800225"/>
          <a:ext xmlns:a="http://schemas.openxmlformats.org/drawingml/2006/main" cx="10972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734300"/>
              </a:tblGrid>
              <a:tr h="657225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评测方面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我要回答的问题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</a:tr>
              <a:tr h="657225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SRCC / PLCC / RMSE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排序、线性相关与分数误差分别怎样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657225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混合总体与分来源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AIGC 内部和 UGC 内部是否也有可靠排序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  <a:tr h="657225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跨来源 / 跨数据集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在来源或数据变化后是否仍能预测质量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657225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失败样本与开销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19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在哪些内容上失败，资源成本是否合适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  <p:sp>
        <p:nvSpPr>
          <p:cNvPr id="6" name="固定划分与种子，重复关键实验，测试集保持独立">
            <a:extLst xmlns:a="http://schemas.openxmlformats.org/drawingml/2006/main">
              <a:ext uri="{FF2B5EF4-FFF2-40B4-BE49-F238E27FC236}">
                <a16:creationId xmlns:a16="http://schemas.microsoft.com/office/drawing/2014/main" id="{AF95C97D-8C18-4C50-962A-F0818C26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固定划分与种子，重复关键实验，测试集保持独立</a:t>
            </a:r>
          </a:p>
        </p:txBody>
      </p:sp>
      <p:sp>
        <p:nvSpPr>
          <p:cNvPr id="7" name="指标方向与分数映射协议单独说明">
            <a:extLst xmlns:a="http://schemas.openxmlformats.org/drawingml/2006/main">
              <a:ext uri="{FF2B5EF4-FFF2-40B4-BE49-F238E27FC236}">
                <a16:creationId xmlns:a16="http://schemas.microsoft.com/office/drawing/2014/main" id="{008163DF-A07D-4BBC-835D-66EC34F7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指标方向与分数映射协议单独说明</a:t>
            </a:r>
          </a:p>
        </p:txBody>
      </p:sp>
    </p:spTree>
    <p:extLst>
      <p:ext uri="{BB962C8B-B14F-4D97-AF65-F5344CB8AC3E}">
        <p14:creationId xmlns:p14="http://schemas.microsoft.com/office/powerpoint/2010/main" val="2224009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3  拟开展的工作">
            <a:extLst xmlns:a="http://schemas.openxmlformats.org/drawingml/2006/main">
              <a:ext uri="{FF2B5EF4-FFF2-40B4-BE49-F238E27FC236}">
                <a16:creationId xmlns:a16="http://schemas.microsoft.com/office/drawing/2014/main" id="{259ABB61-C6A3-4FCE-BBE0-F57FE133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03  拟开展的工作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7C952F-B2ED-4212-A624-C3BFC2E7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我想优先验证的研究问题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F14580B1-004A-4319-B6B7-8A54966E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A2A336DC-84E1-4B58-8EC2-55281F0C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373B2-4D0A-4894-910A-009DCCBC2B6B}"/>
              </a:ext>
            </a:extLst>
          </p:cNvPr>
          <p:cNvGraphicFramePr/>
          <p:nvPr/>
        </p:nvGraphicFramePr>
        <p:xfrm>
          <a:off xmlns:a="http://schemas.openxmlformats.org/drawingml/2006/main" x="609600" y="1895475"/>
          <a:ext xmlns:a="http://schemas.openxmlformats.org/drawingml/2006/main" cx="10972800" cy="2314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24325"/>
                <a:gridCol w="6848475"/>
              </a:tblGrid>
              <a:tr h="771525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待验证的问题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拟采用的控制比较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</a:tr>
              <a:tr h="771525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采样能否覆盖局部异常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固定编码器、视口数与分辨率，仅改变采样策略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771525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结构异常信息是否有帮助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10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固定训练划分与输入，比较有 / 无辅助信息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</a:tbl>
          </a:graphicData>
        </a:graphic>
      </p:graphicFrame>
      <p:sp>
        <p:nvSpPr>
          <p:cNvPr id="6" name="必要诊断：质量预测是否依赖来源差异或场景差异">
            <a:extLst xmlns:a="http://schemas.openxmlformats.org/drawingml/2006/main">
              <a:ext uri="{FF2B5EF4-FFF2-40B4-BE49-F238E27FC236}">
                <a16:creationId xmlns:a16="http://schemas.microsoft.com/office/drawing/2014/main" id="{5316390E-E365-4BEF-A175-39282AB7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rPr>
              <a:t>必要诊断：质量预测是否依赖来源差异或场景差异</a:t>
            </a:r>
          </a:p>
        </p:txBody>
      </p:sp>
      <p:sp>
        <p:nvSpPr>
          <p:cNvPr id="7" name="先报告分来源表现与失败案例，再讨论模型改进">
            <a:extLst xmlns:a="http://schemas.openxmlformats.org/drawingml/2006/main">
              <a:ext uri="{FF2B5EF4-FFF2-40B4-BE49-F238E27FC236}">
                <a16:creationId xmlns:a16="http://schemas.microsoft.com/office/drawing/2014/main" id="{67CA5906-56B3-49AB-AFD3-B5E16A6E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先报告分来源表现与失败案例，再讨论模型改进</a:t>
            </a:r>
          </a:p>
        </p:txBody>
      </p:sp>
    </p:spTree>
    <p:extLst>
      <p:ext uri="{BB962C8B-B14F-4D97-AF65-F5344CB8AC3E}">
        <p14:creationId xmlns:p14="http://schemas.microsoft.com/office/powerpoint/2010/main" val="15920144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3  拟开展的工作">
            <a:extLst xmlns:a="http://schemas.openxmlformats.org/drawingml/2006/main">
              <a:ext uri="{FF2B5EF4-FFF2-40B4-BE49-F238E27FC236}">
                <a16:creationId xmlns:a16="http://schemas.microsoft.com/office/drawing/2014/main" id="{B5AD0316-3FEB-4F58-8F9E-31AF0558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03  拟开展的工作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4C670B9-1757-47E9-BCF6-6BA8C772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下一步工作与组会讨论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9CCD6679-8802-4188-BFF6-8ABFF7F3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A2898DD8-A31B-4727-B109-8021CA9E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我形成的理解">
            <a:extLst xmlns:a="http://schemas.openxmlformats.org/drawingml/2006/main">
              <a:ext uri="{FF2B5EF4-FFF2-40B4-BE49-F238E27FC236}">
                <a16:creationId xmlns:a16="http://schemas.microsoft.com/office/drawing/2014/main" id="{145D7535-4984-486F-9EFC-4F2C79FD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我形成的理解</a:t>
            </a:r>
          </a:p>
        </p:txBody>
      </p:sp>
      <p:sp>
        <p:nvSpPr>
          <p:cNvPr id="6" name="质量目标、主观标签、方法假设与评测协议需要一致。">
            <a:extLst xmlns:a="http://schemas.openxmlformats.org/drawingml/2006/main">
              <a:ext uri="{FF2B5EF4-FFF2-40B4-BE49-F238E27FC236}">
                <a16:creationId xmlns:a16="http://schemas.microsoft.com/office/drawing/2014/main" id="{1572E38F-7C53-4CFD-B915-AC420FC1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质量目标、主观标签、方法假设与评测协议需要一致。</a:t>
            </a:r>
          </a:p>
        </p:txBody>
      </p:sp>
      <p:sp>
        <p:nvSpPr>
          <p:cNvPr id="7" name="接下来形成的产出">
            <a:extLst xmlns:a="http://schemas.openxmlformats.org/drawingml/2006/main">
              <a:ext uri="{FF2B5EF4-FFF2-40B4-BE49-F238E27FC236}">
                <a16:creationId xmlns:a16="http://schemas.microsoft.com/office/drawing/2014/main" id="{6BCA63CA-4B2E-40E8-B4C0-38725F11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接下来形成的产出</a:t>
            </a:r>
          </a:p>
        </p:txBody>
      </p:sp>
      <p:sp>
        <p:nvSpPr>
          <p:cNvPr id="8" name="任务定义和样本清单、主观预实验记录、可复现基线与">
            <a:extLst xmlns:a="http://schemas.openxmlformats.org/drawingml/2006/main">
              <a:ext uri="{FF2B5EF4-FFF2-40B4-BE49-F238E27FC236}">
                <a16:creationId xmlns:a16="http://schemas.microsoft.com/office/drawing/2014/main" id="{6E6DAC0A-8C7C-4583-BF8A-9A4F69E7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任务定义和样本清单、主观预实验记录、可复现基线与失败分析。</a:t>
            </a:r>
          </a:p>
        </p:txBody>
      </p:sp>
      <p:sp>
        <p:nvSpPr>
          <p:cNvPr id="9" name="需要与导师确认">
            <a:extLst xmlns:a="http://schemas.openxmlformats.org/drawingml/2006/main">
              <a:ext uri="{FF2B5EF4-FFF2-40B4-BE49-F238E27FC236}">
                <a16:creationId xmlns:a16="http://schemas.microsoft.com/office/drawing/2014/main" id="{E7190495-C285-40A0-8A13-7677FCA3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需要与导师确认</a:t>
            </a:r>
          </a:p>
        </p:txBody>
      </p:sp>
      <p:sp>
        <p:nvSpPr>
          <p:cNvPr id="10" name="AI 编辑是否纳入？主评分维度如何定义？头显与数">
            <a:extLst xmlns:a="http://schemas.openxmlformats.org/drawingml/2006/main">
              <a:ext uri="{FF2B5EF4-FFF2-40B4-BE49-F238E27FC236}">
                <a16:creationId xmlns:a16="http://schemas.microsoft.com/office/drawing/2014/main" id="{4D89870B-5419-466F-AD74-AC879CF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3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AI 编辑是否纳入？主评分维度如何定义？头显与数据资源如何安排？</a:t>
            </a:r>
          </a:p>
        </p:txBody>
      </p:sp>
    </p:spTree>
    <p:extLst>
      <p:ext uri="{BB962C8B-B14F-4D97-AF65-F5344CB8AC3E}">
        <p14:creationId xmlns:p14="http://schemas.microsoft.com/office/powerpoint/2010/main" val="2887036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附录 A  指标问答">
            <a:extLst xmlns:a="http://schemas.openxmlformats.org/drawingml/2006/main">
              <a:ext uri="{FF2B5EF4-FFF2-40B4-BE49-F238E27FC236}">
                <a16:creationId xmlns:a16="http://schemas.microsoft.com/office/drawing/2014/main" id="{7B222B84-CD52-4230-9DFA-8DAB2F1D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附录 A  指标问答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E77907-AB0D-4EAE-AE8A-CE499F86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附录：相关性与数值误差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22580777-8998-4A05-8D6B-8B3C3807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19">
            <a:extLst xmlns:a="http://schemas.openxmlformats.org/drawingml/2006/main">
              <a:ext uri="{FF2B5EF4-FFF2-40B4-BE49-F238E27FC236}">
                <a16:creationId xmlns:a16="http://schemas.microsoft.com/office/drawing/2014/main" id="{C0B6F4A0-9507-417B-8D4A-EEFF4770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6A8BE-EDF2-48A3-85F3-8A04426FE940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64389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2047875"/>
                <a:gridCol w="2047875"/>
              </a:tblGrid>
              <a:tr h="70008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构造样本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主观分数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原始预测</a:t>
                      </a:r>
                    </a:p>
                  </a:txBody>
                  <a:tcPr marL="91440" marR="91440" marT="45720" marB="45720" anchor="ctr">
                    <a:solidFill>
                      <a:srgbClr val="64785E"/>
                    </a:solidFill>
                  </a:tcPr>
                </a:tc>
              </a:tr>
              <a:tr h="70008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  <a:tr h="70008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EF0E7"/>
                    </a:solidFill>
                  </a:tcPr>
                </a:tc>
              </a:tr>
              <a:tr h="700088"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  <a:tc>
                  <a:txBody>
                    <a:bodyPr wrap="square" lIns="133350" tIns="114300" rIns="133350" bIns="11430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</a:pPr>
                      <a:r>
                        <a:rPr sz="2250" b="0">
                          <a:solidFill>
                            <a:srgbClr val="263B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6" name="SRCC = 1&#10;PLCC = 1&#10;RMSE ≈">
            <a:extLst xmlns:a="http://schemas.openxmlformats.org/drawingml/2006/main">
              <a:ext uri="{FF2B5EF4-FFF2-40B4-BE49-F238E27FC236}">
                <a16:creationId xmlns:a16="http://schemas.microsoft.com/office/drawing/2014/main" id="{329A7C47-A2B5-4D26-BF41-4C8DB5B5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47850"/>
            <a:ext cx="39147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6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SRCC = 1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PLCC = 1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6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RMSE ≈ 19.44</a:t>
            </a:r>
          </a:p>
        </p:txBody>
      </p:sp>
      <p:sp>
        <p:nvSpPr>
          <p:cNvPr id="7" name="RMSE = √[(9² + 18² + 27²">
            <a:extLst xmlns:a="http://schemas.openxmlformats.org/drawingml/2006/main">
              <a:ext uri="{FF2B5EF4-FFF2-40B4-BE49-F238E27FC236}">
                <a16:creationId xmlns:a16="http://schemas.microsoft.com/office/drawing/2014/main" id="{470ECAA1-2194-4B90-A5D4-0398A70F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25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RMSE = √[(9² + 18² + 27²) / 3]</a:t>
            </a:r>
          </a:p>
        </p:txBody>
      </p:sp>
      <p:sp>
        <p:nvSpPr>
          <p:cNvPr id="8" name="教学数值。高相关性仍可能伴随较大的原始分数误差">
            <a:extLst xmlns:a="http://schemas.openxmlformats.org/drawingml/2006/main">
              <a:ext uri="{FF2B5EF4-FFF2-40B4-BE49-F238E27FC236}">
                <a16:creationId xmlns:a16="http://schemas.microsoft.com/office/drawing/2014/main" id="{9F8FB7DD-6AB7-4FD8-AE3A-D3FADC37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25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45E45"/>
                </a:solidFill>
                <a:latin typeface="Microsoft YaHei"/>
                <a:ea typeface="Microsoft YaHei"/>
                <a:cs typeface="Microsoft YaHei"/>
              </a:rPr>
              <a:t>教学数值。高相关性仍可能伴随较大的原始分数误差</a:t>
            </a:r>
          </a:p>
        </p:txBody>
      </p:sp>
    </p:spTree>
    <p:extLst>
      <p:ext uri="{BB962C8B-B14F-4D97-AF65-F5344CB8AC3E}">
        <p14:creationId xmlns:p14="http://schemas.microsoft.com/office/powerpoint/2010/main" val="12076631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附录 B  对照新生教程">
            <a:extLst xmlns:a="http://schemas.openxmlformats.org/drawingml/2006/main">
              <a:ext uri="{FF2B5EF4-FFF2-40B4-BE49-F238E27FC236}">
                <a16:creationId xmlns:a16="http://schemas.microsoft.com/office/drawing/2014/main" id="{6A6773BD-6C33-4626-9E7E-C38F0EB7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附录 B  对照新生教程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E1643D5-A4BD-4048-9DBA-F9CA2DA9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附录：实验前后的核对清单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9FB11D42-1FE2-4F09-B38E-6D87B353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9039FF2E-6744-412C-8968-690E196D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训练前">
            <a:extLst xmlns:a="http://schemas.openxmlformats.org/drawingml/2006/main">
              <a:ext uri="{FF2B5EF4-FFF2-40B4-BE49-F238E27FC236}">
                <a16:creationId xmlns:a16="http://schemas.microsoft.com/office/drawing/2014/main" id="{6EF11AE0-F7F8-481D-A8E8-C6D62265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914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训练前</a:t>
            </a:r>
          </a:p>
        </p:txBody>
      </p:sp>
      <p:sp>
        <p:nvSpPr>
          <p:cNvPr id="6" name="内容家族隔离&#10;划分文件与种子&#10;视口与预处理参数&#10;">
            <a:extLst xmlns:a="http://schemas.openxmlformats.org/drawingml/2006/main">
              <a:ext uri="{FF2B5EF4-FFF2-40B4-BE49-F238E27FC236}">
                <a16:creationId xmlns:a16="http://schemas.microsoft.com/office/drawing/2014/main" id="{C29C0F45-6F6E-457B-A5D7-B6033AD8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190875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内容家族隔离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划分文件与种子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视口与预处理参数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预训练来源核对</a:t>
            </a:r>
          </a:p>
        </p:txBody>
      </p:sp>
      <p:sp>
        <p:nvSpPr>
          <p:cNvPr id="7" name="比较时">
            <a:extLst xmlns:a="http://schemas.openxmlformats.org/drawingml/2006/main">
              <a:ext uri="{FF2B5EF4-FFF2-40B4-BE49-F238E27FC236}">
                <a16:creationId xmlns:a16="http://schemas.microsoft.com/office/drawing/2014/main" id="{814F8160-E66D-4A59-B2F9-AC6FD080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比较时</a:t>
            </a:r>
          </a:p>
        </p:txBody>
      </p:sp>
      <p:sp>
        <p:nvSpPr>
          <p:cNvPr id="8" name="相同测试集&#10;一致评价协议&#10;相近训练预算&#10;重复关键">
            <a:extLst xmlns:a="http://schemas.openxmlformats.org/drawingml/2006/main">
              <a:ext uri="{FF2B5EF4-FFF2-40B4-BE49-F238E27FC236}">
                <a16:creationId xmlns:a16="http://schemas.microsoft.com/office/drawing/2014/main" id="{57801805-1F20-4A78-B59A-435275D6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3133725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相同测试集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一致评价协议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相近训练预算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重复关键实验</a:t>
            </a:r>
          </a:p>
        </p:txBody>
      </p:sp>
      <p:sp>
        <p:nvSpPr>
          <p:cNvPr id="9" name="实验后">
            <a:extLst xmlns:a="http://schemas.openxmlformats.org/drawingml/2006/main">
              <a:ext uri="{FF2B5EF4-FFF2-40B4-BE49-F238E27FC236}">
                <a16:creationId xmlns:a16="http://schemas.microsoft.com/office/drawing/2014/main" id="{BF3A1E18-90AD-4569-9A24-F522F7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47850"/>
            <a:ext cx="333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实验后</a:t>
            </a:r>
          </a:p>
        </p:txBody>
      </p:sp>
      <p:sp>
        <p:nvSpPr>
          <p:cNvPr id="10" name="逐图预测与散点图&#10;分来源指标&#10;失败样本分析&#10;条件">
            <a:extLst xmlns:a="http://schemas.openxmlformats.org/drawingml/2006/main">
              <a:ext uri="{FF2B5EF4-FFF2-40B4-BE49-F238E27FC236}">
                <a16:creationId xmlns:a16="http://schemas.microsoft.com/office/drawing/2014/main" id="{070CEB0D-6B97-40DE-B2A2-285751AB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09850"/>
            <a:ext cx="3571875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逐图预测与散点图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分来源指标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失败样本分析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条件允许时跨数据集</a:t>
            </a:r>
          </a:p>
        </p:txBody>
      </p:sp>
      <p:sp>
        <p:nvSpPr>
          <p:cNvPr id="11" name="记录能够追溯到数据、配置、模型和结果">
            <a:extLst xmlns:a="http://schemas.openxmlformats.org/drawingml/2006/main">
              <a:ext uri="{FF2B5EF4-FFF2-40B4-BE49-F238E27FC236}">
                <a16:creationId xmlns:a16="http://schemas.microsoft.com/office/drawing/2014/main" id="{DCD9496B-52C3-4CC5-B58C-2DFF0022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325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记录能够追溯到数据、配置、模型和结果</a:t>
            </a:r>
          </a:p>
        </p:txBody>
      </p:sp>
    </p:spTree>
    <p:extLst>
      <p:ext uri="{BB962C8B-B14F-4D97-AF65-F5344CB8AC3E}">
        <p14:creationId xmlns:p14="http://schemas.microsoft.com/office/powerpoint/2010/main" val="6372331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附录 C  参考材料">
            <a:extLst xmlns:a="http://schemas.openxmlformats.org/drawingml/2006/main">
              <a:ext uri="{FF2B5EF4-FFF2-40B4-BE49-F238E27FC236}">
                <a16:creationId xmlns:a16="http://schemas.microsoft.com/office/drawing/2014/main" id="{4886073D-88DE-495B-BC82-FE69E88A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4785E"/>
                </a:solidFill>
                <a:latin typeface="Microsoft YaHei"/>
                <a:ea typeface="Microsoft YaHei"/>
                <a:cs typeface="Microsoft YaHei"/>
              </a:rPr>
              <a:t>附录 C  参考材料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A79A280-4094-49CC-865E-7AE99698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参考材料与阅读定位</a:t>
            </a:r>
          </a:p>
        </p:txBody>
      </p:sp>
      <p:sp>
        <p:nvSpPr>
          <p:cNvPr id="3" name="shaw chenyu    上海大学">
            <a:extLst xmlns:a="http://schemas.openxmlformats.org/drawingml/2006/main">
              <a:ext uri="{FF2B5EF4-FFF2-40B4-BE49-F238E27FC236}">
                <a16:creationId xmlns:a16="http://schemas.microsoft.com/office/drawing/2014/main" id="{73E9A164-C5AB-42C6-810A-23AE7F21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shaw chenyu    上海大学</a:t>
            </a:r>
          </a:p>
        </p:txBody>
      </p:sp>
      <p:sp>
        <p:nvSpPr>
          <p:cNvPr id="4" name="21">
            <a:extLst xmlns:a="http://schemas.openxmlformats.org/drawingml/2006/main">
              <a:ext uri="{FF2B5EF4-FFF2-40B4-BE49-F238E27FC236}">
                <a16:creationId xmlns:a16="http://schemas.microsoft.com/office/drawing/2014/main" id="{7DD69247-1DD5-4548-88E7-D7EE5333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[A] Zhai G, Min X. Perce">
            <a:extLst xmlns:a="http://schemas.openxmlformats.org/drawingml/2006/main">
              <a:ext uri="{FF2B5EF4-FFF2-40B4-BE49-F238E27FC236}">
                <a16:creationId xmlns:a16="http://schemas.microsoft.com/office/drawing/2014/main" id="{EB95DF26-7335-4DA7-9C2A-7DEFBC95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[A] Zhai G, Min X. Perceptual image quality assessment: a survey.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Science China Information Sciences, 2020, 63: 211301.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DOI: 10.1007/s11432-019-2757-1</a:t>
            </a:r>
          </a:p>
        </p:txBody>
      </p:sp>
      <p:sp>
        <p:nvSpPr>
          <p:cNvPr id="6" name="[B] Min X, Duan H, Sun W">
            <a:extLst xmlns:a="http://schemas.openxmlformats.org/drawingml/2006/main">
              <a:ext uri="{FF2B5EF4-FFF2-40B4-BE49-F238E27FC236}">
                <a16:creationId xmlns:a16="http://schemas.microsoft.com/office/drawing/2014/main" id="{3218B938-6301-42A7-9A9A-08A4EC34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[B] Min X, Duan H, Sun W, Zhu Y, Zhai G.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Perceptual video quality assessment: a survey.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Science China Information Sciences, 2024, 67: 211301.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DOI: 10.1007/s11432-024-4133-3</a:t>
            </a:r>
          </a:p>
        </p:txBody>
      </p:sp>
      <p:sp>
        <p:nvSpPr>
          <p:cNvPr id="7" name="[T] 于翔旭老师新生进组学习计划（导师提供 P">
            <a:extLst xmlns:a="http://schemas.openxmlformats.org/drawingml/2006/main">
              <a:ext uri="{FF2B5EF4-FFF2-40B4-BE49-F238E27FC236}">
                <a16:creationId xmlns:a16="http://schemas.microsoft.com/office/drawing/2014/main" id="{2D1EFA37-C66A-40E9-B8C2-72A20A0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[T] 于翔旭老师新生进组学习计划（导师提供 PDF）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B30"/>
                </a:solidFill>
                <a:latin typeface="Microsoft YaHei"/>
                <a:ea typeface="Microsoft YaHei"/>
                <a:cs typeface="Microsoft YaHei"/>
              </a:rPr>
              <a:t>重点：§5.4–5.5，PDF 第 9 页</a:t>
            </a:r>
          </a:p>
        </p:txBody>
      </p:sp>
      <p:sp>
        <p:nvSpPr>
          <p:cNvPr id="8" name="逐页讲稿与出处位于 PPT 备注。配图为我的学习">
            <a:extLst xmlns:a="http://schemas.openxmlformats.org/drawingml/2006/main">
              <a:ext uri="{FF2B5EF4-FFF2-40B4-BE49-F238E27FC236}">
                <a16:creationId xmlns:a16="http://schemas.microsoft.com/office/drawing/2014/main" id="{D2A46B31-4DAF-4F2E-8B08-2020AA64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6D62"/>
                </a:solidFill>
                <a:latin typeface="Microsoft YaHei"/>
                <a:ea typeface="Microsoft YaHei"/>
                <a:cs typeface="Microsoft YaHei"/>
              </a:rPr>
              <a:t>逐页讲稿与出处位于 PPT 备注。配图为我的学习材料中的教学示意</a:t>
            </a:r>
          </a:p>
        </p:txBody>
      </p:sp>
    </p:spTree>
    <p:extLst>
      <p:ext uri="{BB962C8B-B14F-4D97-AF65-F5344CB8AC3E}">
        <p14:creationId xmlns:p14="http://schemas.microsoft.com/office/powerpoint/2010/main" val="1997120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2026-10-08T13:17:42.6320000Z</dcterms:created>
  <dcterms:modified xsi:type="dcterms:W3CDTF">2026-10-08T13:17:42.6320000Z</dcterms:modified>
</coreProperties>
</file>